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5" r:id="rId17"/>
    <p:sldId id="277" r:id="rId18"/>
    <p:sldId id="280" r:id="rId19"/>
    <p:sldId id="272" r:id="rId20"/>
    <p:sldId id="273" r:id="rId21"/>
    <p:sldId id="274" r:id="rId22"/>
    <p:sldId id="282" r:id="rId23"/>
    <p:sldId id="281" r:id="rId24"/>
    <p:sldId id="276" r:id="rId25"/>
  </p:sldIdLst>
  <p:sldSz cx="18288000" cy="10287000"/>
  <p:notesSz cx="6858000" cy="9144000"/>
  <p:embeddedFontLst>
    <p:embeddedFont>
      <p:font typeface="Roca Two" panose="020B0604020202020204" charset="0"/>
      <p:regular r:id="rId27"/>
    </p:embeddedFont>
    <p:embeddedFont>
      <p:font typeface="Roca Two Bold" panose="020B0604020202020204" charset="0"/>
      <p:regular r:id="rId28"/>
    </p:embeddedFont>
    <p:embeddedFont>
      <p:font typeface="Roca Two Ultra-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6A5344-68A9-41E7-B2E4-F2F85D9AC353}" v="31" dt="2026-10-07T03:52:15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thana ganta" userId="c7786f2083535dee" providerId="LiveId" clId="{29500FE1-9FCC-4AEA-839A-4E7D98CCD835}"/>
    <pc:docChg chg="undo custSel addSld delSld modSld sldOrd">
      <pc:chgData name="khethana ganta" userId="c7786f2083535dee" providerId="LiveId" clId="{29500FE1-9FCC-4AEA-839A-4E7D98CCD835}" dt="2026-10-07T03:52:35.640" v="481" actId="255"/>
      <pc:docMkLst>
        <pc:docMk/>
      </pc:docMkLst>
      <pc:sldChg chg="modSp mod">
        <pc:chgData name="khethana ganta" userId="c7786f2083535dee" providerId="LiveId" clId="{29500FE1-9FCC-4AEA-839A-4E7D98CCD835}" dt="2026-10-07T03:37:59.009" v="415" actId="1076"/>
        <pc:sldMkLst>
          <pc:docMk/>
          <pc:sldMk cId="0" sldId="256"/>
        </pc:sldMkLst>
        <pc:spChg chg="mod">
          <ac:chgData name="khethana ganta" userId="c7786f2083535dee" providerId="LiveId" clId="{29500FE1-9FCC-4AEA-839A-4E7D98CCD835}" dt="2026-09-26T11:51:35.200" v="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khethana ganta" userId="c7786f2083535dee" providerId="LiveId" clId="{29500FE1-9FCC-4AEA-839A-4E7D98CCD835}" dt="2026-10-07T03:37:59.009" v="415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khethana ganta" userId="c7786f2083535dee" providerId="LiveId" clId="{29500FE1-9FCC-4AEA-839A-4E7D98CCD835}" dt="2026-10-07T03:37:50.186" v="41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hethana ganta" userId="c7786f2083535dee" providerId="LiveId" clId="{29500FE1-9FCC-4AEA-839A-4E7D98CCD835}" dt="2026-10-07T03:37:54.776" v="414" actId="1076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khethana ganta" userId="c7786f2083535dee" providerId="LiveId" clId="{29500FE1-9FCC-4AEA-839A-4E7D98CCD835}" dt="2026-10-07T03:44:30.342" v="472" actId="1076"/>
        <pc:sldMkLst>
          <pc:docMk/>
          <pc:sldMk cId="0" sldId="257"/>
        </pc:sldMkLst>
        <pc:spChg chg="mod">
          <ac:chgData name="khethana ganta" userId="c7786f2083535dee" providerId="LiveId" clId="{29500FE1-9FCC-4AEA-839A-4E7D98CCD835}" dt="2026-10-07T03:44:30.342" v="472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4:21.467" v="22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4:10.079" v="20" actId="1076"/>
          <ac:spMkLst>
            <pc:docMk/>
            <pc:sldMk cId="0" sldId="257"/>
            <ac:spMk id="9" creationId="{00000000-0000-0000-0000-000000000000}"/>
          </ac:spMkLst>
        </pc:spChg>
        <pc:grpChg chg="mod">
          <ac:chgData name="khethana ganta" userId="c7786f2083535dee" providerId="LiveId" clId="{29500FE1-9FCC-4AEA-839A-4E7D98CCD835}" dt="2026-09-26T11:54:14.046" v="21" actId="14100"/>
          <ac:grpSpMkLst>
            <pc:docMk/>
            <pc:sldMk cId="0" sldId="257"/>
            <ac:grpSpMk id="2" creationId="{00000000-0000-0000-0000-000000000000}"/>
          </ac:grpSpMkLst>
        </pc:grpChg>
      </pc:sldChg>
      <pc:sldChg chg="modSp mod">
        <pc:chgData name="khethana ganta" userId="c7786f2083535dee" providerId="LiveId" clId="{29500FE1-9FCC-4AEA-839A-4E7D98CCD835}" dt="2026-09-26T11:53:42.411" v="17" actId="1076"/>
        <pc:sldMkLst>
          <pc:docMk/>
          <pc:sldMk cId="0" sldId="258"/>
        </pc:sldMkLst>
        <pc:spChg chg="mod">
          <ac:chgData name="khethana ganta" userId="c7786f2083535dee" providerId="LiveId" clId="{29500FE1-9FCC-4AEA-839A-4E7D98CCD835}" dt="2026-09-26T11:53:24.538" v="13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3:42.411" v="17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3:35.913" v="15" actId="1076"/>
          <ac:spMkLst>
            <pc:docMk/>
            <pc:sldMk cId="0" sldId="258"/>
            <ac:spMk id="10" creationId="{00000000-0000-0000-0000-000000000000}"/>
          </ac:spMkLst>
        </pc:spChg>
        <pc:grpChg chg="mod">
          <ac:chgData name="khethana ganta" userId="c7786f2083535dee" providerId="LiveId" clId="{29500FE1-9FCC-4AEA-839A-4E7D98CCD835}" dt="2026-09-26T11:52:14.762" v="7" actId="14100"/>
          <ac:grpSpMkLst>
            <pc:docMk/>
            <pc:sldMk cId="0" sldId="258"/>
            <ac:grpSpMk id="2" creationId="{00000000-0000-0000-0000-000000000000}"/>
          </ac:grpSpMkLst>
        </pc:grpChg>
        <pc:grpChg chg="mod">
          <ac:chgData name="khethana ganta" userId="c7786f2083535dee" providerId="LiveId" clId="{29500FE1-9FCC-4AEA-839A-4E7D98CCD835}" dt="2026-09-26T11:52:41.845" v="11" actId="14100"/>
          <ac:grpSpMkLst>
            <pc:docMk/>
            <pc:sldMk cId="0" sldId="258"/>
            <ac:grpSpMk id="5" creationId="{00000000-0000-0000-0000-000000000000}"/>
          </ac:grpSpMkLst>
        </pc:grpChg>
      </pc:sldChg>
      <pc:sldChg chg="modSp mod">
        <pc:chgData name="khethana ganta" userId="c7786f2083535dee" providerId="LiveId" clId="{29500FE1-9FCC-4AEA-839A-4E7D98CCD835}" dt="2026-09-26T11:54:34.134" v="24" actId="1076"/>
        <pc:sldMkLst>
          <pc:docMk/>
          <pc:sldMk cId="0" sldId="259"/>
        </pc:sldMkLst>
        <pc:spChg chg="mod">
          <ac:chgData name="khethana ganta" userId="c7786f2083535dee" providerId="LiveId" clId="{29500FE1-9FCC-4AEA-839A-4E7D98CCD835}" dt="2026-09-26T11:54:34.134" v="24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4:29.080" v="23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khethana ganta" userId="c7786f2083535dee" providerId="LiveId" clId="{29500FE1-9FCC-4AEA-839A-4E7D98CCD835}" dt="2026-09-26T11:54:48.323" v="28" actId="1076"/>
        <pc:sldMkLst>
          <pc:docMk/>
          <pc:sldMk cId="0" sldId="260"/>
        </pc:sldMkLst>
        <pc:spChg chg="mod">
          <ac:chgData name="khethana ganta" userId="c7786f2083535dee" providerId="LiveId" clId="{29500FE1-9FCC-4AEA-839A-4E7D98CCD835}" dt="2026-09-26T11:54:48.323" v="28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4:41.224" v="27" actId="1076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khethana ganta" userId="c7786f2083535dee" providerId="LiveId" clId="{29500FE1-9FCC-4AEA-839A-4E7D98CCD835}" dt="2026-09-26T11:55:49.573" v="37" actId="14100"/>
        <pc:sldMkLst>
          <pc:docMk/>
          <pc:sldMk cId="0" sldId="261"/>
        </pc:sldMkLst>
        <pc:spChg chg="mod">
          <ac:chgData name="khethana ganta" userId="c7786f2083535dee" providerId="LiveId" clId="{29500FE1-9FCC-4AEA-839A-4E7D98CCD835}" dt="2026-09-26T11:55:13.798" v="3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5:09.528" v="33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5:27.837" v="36" actId="1076"/>
          <ac:spMkLst>
            <pc:docMk/>
            <pc:sldMk cId="0" sldId="261"/>
            <ac:spMk id="7" creationId="{00000000-0000-0000-0000-000000000000}"/>
          </ac:spMkLst>
        </pc:spChg>
        <pc:grpChg chg="mod">
          <ac:chgData name="khethana ganta" userId="c7786f2083535dee" providerId="LiveId" clId="{29500FE1-9FCC-4AEA-839A-4E7D98CCD835}" dt="2026-09-26T11:55:49.573" v="37" actId="14100"/>
          <ac:grpSpMkLst>
            <pc:docMk/>
            <pc:sldMk cId="0" sldId="261"/>
            <ac:grpSpMk id="3" creationId="{00000000-0000-0000-0000-000000000000}"/>
          </ac:grpSpMkLst>
        </pc:grpChg>
      </pc:sldChg>
      <pc:sldChg chg="modSp mod">
        <pc:chgData name="khethana ganta" userId="c7786f2083535dee" providerId="LiveId" clId="{29500FE1-9FCC-4AEA-839A-4E7D98CCD835}" dt="2026-09-26T11:57:40.370" v="53" actId="255"/>
        <pc:sldMkLst>
          <pc:docMk/>
          <pc:sldMk cId="0" sldId="262"/>
        </pc:sldMkLst>
        <pc:spChg chg="mod">
          <ac:chgData name="khethana ganta" userId="c7786f2083535dee" providerId="LiveId" clId="{29500FE1-9FCC-4AEA-839A-4E7D98CCD835}" dt="2026-09-26T11:56:39.961" v="47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1:56:33.618" v="43" actId="1076"/>
          <ac:spMkLst>
            <pc:docMk/>
            <pc:sldMk cId="0" sldId="262"/>
            <ac:spMk id="7" creationId="{00000000-0000-0000-0000-000000000000}"/>
          </ac:spMkLst>
        </pc:spChg>
        <pc:grpChg chg="mod">
          <ac:chgData name="khethana ganta" userId="c7786f2083535dee" providerId="LiveId" clId="{29500FE1-9FCC-4AEA-839A-4E7D98CCD835}" dt="2026-09-26T11:57:21.464" v="51" actId="14100"/>
          <ac:grpSpMkLst>
            <pc:docMk/>
            <pc:sldMk cId="0" sldId="262"/>
            <ac:grpSpMk id="2" creationId="{00000000-0000-0000-0000-000000000000}"/>
          </ac:grpSpMkLst>
        </pc:grpChg>
        <pc:graphicFrameChg chg="mod modGraphic">
          <ac:chgData name="khethana ganta" userId="c7786f2083535dee" providerId="LiveId" clId="{29500FE1-9FCC-4AEA-839A-4E7D98CCD835}" dt="2026-09-26T11:57:40.370" v="53" actId="255"/>
          <ac:graphicFrameMkLst>
            <pc:docMk/>
            <pc:sldMk cId="0" sldId="262"/>
            <ac:graphicFrameMk id="6" creationId="{00000000-0000-0000-0000-000000000000}"/>
          </ac:graphicFrameMkLst>
        </pc:graphicFrameChg>
      </pc:sldChg>
      <pc:sldChg chg="modSp mod">
        <pc:chgData name="khethana ganta" userId="c7786f2083535dee" providerId="LiveId" clId="{29500FE1-9FCC-4AEA-839A-4E7D98CCD835}" dt="2026-09-26T11:58:32.541" v="56" actId="14100"/>
        <pc:sldMkLst>
          <pc:docMk/>
          <pc:sldMk cId="0" sldId="264"/>
        </pc:sldMkLst>
        <pc:spChg chg="mod">
          <ac:chgData name="khethana ganta" userId="c7786f2083535dee" providerId="LiveId" clId="{29500FE1-9FCC-4AEA-839A-4E7D98CCD835}" dt="2026-09-26T11:58:26.118" v="54" actId="1076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khethana ganta" userId="c7786f2083535dee" providerId="LiveId" clId="{29500FE1-9FCC-4AEA-839A-4E7D98CCD835}" dt="2026-09-26T11:58:32.541" v="56" actId="14100"/>
          <ac:graphicFrameMkLst>
            <pc:docMk/>
            <pc:sldMk cId="0" sldId="264"/>
            <ac:graphicFrameMk id="2" creationId="{00000000-0000-0000-0000-000000000000}"/>
          </ac:graphicFrameMkLst>
        </pc:graphicFrameChg>
      </pc:sldChg>
      <pc:sldChg chg="modSp mod">
        <pc:chgData name="khethana ganta" userId="c7786f2083535dee" providerId="LiveId" clId="{29500FE1-9FCC-4AEA-839A-4E7D98CCD835}" dt="2026-09-26T11:59:10.294" v="67" actId="14100"/>
        <pc:sldMkLst>
          <pc:docMk/>
          <pc:sldMk cId="0" sldId="265"/>
        </pc:sldMkLst>
        <pc:spChg chg="mod">
          <ac:chgData name="khethana ganta" userId="c7786f2083535dee" providerId="LiveId" clId="{29500FE1-9FCC-4AEA-839A-4E7D98CCD835}" dt="2026-09-26T11:59:10.294" v="67" actId="14100"/>
          <ac:spMkLst>
            <pc:docMk/>
            <pc:sldMk cId="0" sldId="265"/>
            <ac:spMk id="6" creationId="{00000000-0000-0000-0000-000000000000}"/>
          </ac:spMkLst>
        </pc:spChg>
        <pc:grpChg chg="mod">
          <ac:chgData name="khethana ganta" userId="c7786f2083535dee" providerId="LiveId" clId="{29500FE1-9FCC-4AEA-839A-4E7D98CCD835}" dt="2026-09-26T11:58:47.303" v="59" actId="14100"/>
          <ac:grpSpMkLst>
            <pc:docMk/>
            <pc:sldMk cId="0" sldId="265"/>
            <ac:grpSpMk id="2" creationId="{00000000-0000-0000-0000-000000000000}"/>
          </ac:grpSpMkLst>
        </pc:grpChg>
      </pc:sldChg>
      <pc:sldChg chg="modSp mod">
        <pc:chgData name="khethana ganta" userId="c7786f2083535dee" providerId="LiveId" clId="{29500FE1-9FCC-4AEA-839A-4E7D98CCD835}" dt="2026-09-26T12:03:00.885" v="76" actId="1076"/>
        <pc:sldMkLst>
          <pc:docMk/>
          <pc:sldMk cId="0" sldId="266"/>
        </pc:sldMkLst>
        <pc:spChg chg="mod">
          <ac:chgData name="khethana ganta" userId="c7786f2083535dee" providerId="LiveId" clId="{29500FE1-9FCC-4AEA-839A-4E7D98CCD835}" dt="2026-09-26T11:59:54.398" v="71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2:02:56.809" v="75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2:03:00.885" v="76" actId="107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khethana ganta" userId="c7786f2083535dee" providerId="LiveId" clId="{29500FE1-9FCC-4AEA-839A-4E7D98CCD835}" dt="2026-09-26T12:03:19.948" v="79" actId="1076"/>
        <pc:sldMkLst>
          <pc:docMk/>
          <pc:sldMk cId="0" sldId="267"/>
        </pc:sldMkLst>
        <pc:spChg chg="mod">
          <ac:chgData name="khethana ganta" userId="c7786f2083535dee" providerId="LiveId" clId="{29500FE1-9FCC-4AEA-839A-4E7D98CCD835}" dt="2026-09-26T12:03:19.948" v="79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2:03:14.451" v="77" actId="1076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khethana ganta" userId="c7786f2083535dee" providerId="LiveId" clId="{29500FE1-9FCC-4AEA-839A-4E7D98CCD835}" dt="2026-09-26T12:03:27.609" v="80" actId="14100"/>
        <pc:sldMkLst>
          <pc:docMk/>
          <pc:sldMk cId="0" sldId="268"/>
        </pc:sldMkLst>
        <pc:spChg chg="mod">
          <ac:chgData name="khethana ganta" userId="c7786f2083535dee" providerId="LiveId" clId="{29500FE1-9FCC-4AEA-839A-4E7D98CCD835}" dt="2026-09-26T12:03:27.609" v="80" actId="14100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khethana ganta" userId="c7786f2083535dee" providerId="LiveId" clId="{29500FE1-9FCC-4AEA-839A-4E7D98CCD835}" dt="2026-09-26T12:04:16.629" v="90" actId="1076"/>
        <pc:sldMkLst>
          <pc:docMk/>
          <pc:sldMk cId="0" sldId="269"/>
        </pc:sldMkLst>
        <pc:spChg chg="mod">
          <ac:chgData name="khethana ganta" userId="c7786f2083535dee" providerId="LiveId" clId="{29500FE1-9FCC-4AEA-839A-4E7D98CCD835}" dt="2026-09-26T12:04:16.629" v="90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2:04:12.202" v="89" actId="1076"/>
          <ac:spMkLst>
            <pc:docMk/>
            <pc:sldMk cId="0" sldId="269"/>
            <ac:spMk id="4" creationId="{00000000-0000-0000-0000-000000000000}"/>
          </ac:spMkLst>
        </pc:spChg>
      </pc:sldChg>
      <pc:sldChg chg="modSp del mod">
        <pc:chgData name="khethana ganta" userId="c7786f2083535dee" providerId="LiveId" clId="{29500FE1-9FCC-4AEA-839A-4E7D98CCD835}" dt="2026-10-07T03:45:04.628" v="473" actId="47"/>
        <pc:sldMkLst>
          <pc:docMk/>
          <pc:sldMk cId="0" sldId="270"/>
        </pc:sldMkLst>
      </pc:sldChg>
      <pc:sldChg chg="addSp delSp modSp mod">
        <pc:chgData name="khethana ganta" userId="c7786f2083535dee" providerId="LiveId" clId="{29500FE1-9FCC-4AEA-839A-4E7D98CCD835}" dt="2026-09-30T03:54:50.897" v="125" actId="47"/>
        <pc:sldMkLst>
          <pc:docMk/>
          <pc:sldMk cId="0" sldId="271"/>
        </pc:sldMkLst>
        <pc:spChg chg="mod">
          <ac:chgData name="khethana ganta" userId="c7786f2083535dee" providerId="LiveId" clId="{29500FE1-9FCC-4AEA-839A-4E7D98CCD835}" dt="2026-09-26T12:04:43.029" v="97" actId="14100"/>
          <ac:spMkLst>
            <pc:docMk/>
            <pc:sldMk cId="0" sldId="271"/>
            <ac:spMk id="2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2:04:49.781" v="98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khethana ganta" userId="c7786f2083535dee" providerId="LiveId" clId="{29500FE1-9FCC-4AEA-839A-4E7D98CCD835}" dt="2026-09-26T12:05:06.976" v="101" actId="1076"/>
          <ac:spMkLst>
            <pc:docMk/>
            <pc:sldMk cId="0" sldId="271"/>
            <ac:spMk id="5" creationId="{00000000-0000-0000-0000-000000000000}"/>
          </ac:spMkLst>
        </pc:spChg>
        <pc:spChg chg="add del mod">
          <ac:chgData name="khethana ganta" userId="c7786f2083535dee" providerId="LiveId" clId="{29500FE1-9FCC-4AEA-839A-4E7D98CCD835}" dt="2026-09-30T03:54:50.897" v="125" actId="47"/>
          <ac:spMkLst>
            <pc:docMk/>
            <pc:sldMk cId="0" sldId="271"/>
            <ac:spMk id="6" creationId="{8390F7D4-AEC8-C467-FCAB-1F7086E60B3E}"/>
          </ac:spMkLst>
        </pc:spChg>
      </pc:sldChg>
      <pc:sldChg chg="addSp modSp mod ord">
        <pc:chgData name="khethana ganta" userId="c7786f2083535dee" providerId="LiveId" clId="{29500FE1-9FCC-4AEA-839A-4E7D98CCD835}" dt="2026-10-07T03:21:44.843" v="336" actId="1076"/>
        <pc:sldMkLst>
          <pc:docMk/>
          <pc:sldMk cId="0" sldId="272"/>
        </pc:sldMkLst>
        <pc:spChg chg="mod">
          <ac:chgData name="khethana ganta" userId="c7786f2083535dee" providerId="LiveId" clId="{29500FE1-9FCC-4AEA-839A-4E7D98CCD835}" dt="2026-09-26T12:05:18.272" v="104" actId="14100"/>
          <ac:spMkLst>
            <pc:docMk/>
            <pc:sldMk cId="0" sldId="272"/>
            <ac:spMk id="2" creationId="{00000000-0000-0000-0000-000000000000}"/>
          </ac:spMkLst>
        </pc:spChg>
        <pc:spChg chg="add">
          <ac:chgData name="khethana ganta" userId="c7786f2083535dee" providerId="LiveId" clId="{29500FE1-9FCC-4AEA-839A-4E7D98CCD835}" dt="2026-10-07T03:18:30.883" v="315" actId="22"/>
          <ac:spMkLst>
            <pc:docMk/>
            <pc:sldMk cId="0" sldId="272"/>
            <ac:spMk id="4" creationId="{5C66CE53-A3E8-0CE8-9CB8-97308F2AE9F7}"/>
          </ac:spMkLst>
        </pc:spChg>
        <pc:spChg chg="add mod">
          <ac:chgData name="khethana ganta" userId="c7786f2083535dee" providerId="LiveId" clId="{29500FE1-9FCC-4AEA-839A-4E7D98CCD835}" dt="2026-10-07T03:21:44.843" v="336" actId="1076"/>
          <ac:spMkLst>
            <pc:docMk/>
            <pc:sldMk cId="0" sldId="272"/>
            <ac:spMk id="5" creationId="{9452D9A9-45AB-B287-1F2F-E45A02F8DB3E}"/>
          </ac:spMkLst>
        </pc:spChg>
      </pc:sldChg>
      <pc:sldChg chg="addSp modSp mod ord">
        <pc:chgData name="khethana ganta" userId="c7786f2083535dee" providerId="LiveId" clId="{29500FE1-9FCC-4AEA-839A-4E7D98CCD835}" dt="2026-10-07T03:18:27.735" v="314" actId="22"/>
        <pc:sldMkLst>
          <pc:docMk/>
          <pc:sldMk cId="0" sldId="273"/>
        </pc:sldMkLst>
        <pc:spChg chg="mod">
          <ac:chgData name="khethana ganta" userId="c7786f2083535dee" providerId="LiveId" clId="{29500FE1-9FCC-4AEA-839A-4E7D98CCD835}" dt="2026-09-26T12:05:22.711" v="105" actId="1076"/>
          <ac:spMkLst>
            <pc:docMk/>
            <pc:sldMk cId="0" sldId="273"/>
            <ac:spMk id="2" creationId="{00000000-0000-0000-0000-000000000000}"/>
          </ac:spMkLst>
        </pc:spChg>
        <pc:spChg chg="add">
          <ac:chgData name="khethana ganta" userId="c7786f2083535dee" providerId="LiveId" clId="{29500FE1-9FCC-4AEA-839A-4E7D98CCD835}" dt="2026-10-07T03:18:27.735" v="314" actId="22"/>
          <ac:spMkLst>
            <pc:docMk/>
            <pc:sldMk cId="0" sldId="273"/>
            <ac:spMk id="4" creationId="{C84A9DE6-27B9-1FEF-D101-238513B90A8B}"/>
          </ac:spMkLst>
        </pc:spChg>
      </pc:sldChg>
      <pc:sldChg chg="addSp modSp mod ord">
        <pc:chgData name="khethana ganta" userId="c7786f2083535dee" providerId="LiveId" clId="{29500FE1-9FCC-4AEA-839A-4E7D98CCD835}" dt="2026-10-07T03:18:36.206" v="318" actId="1076"/>
        <pc:sldMkLst>
          <pc:docMk/>
          <pc:sldMk cId="0" sldId="274"/>
        </pc:sldMkLst>
        <pc:spChg chg="mod">
          <ac:chgData name="khethana ganta" userId="c7786f2083535dee" providerId="LiveId" clId="{29500FE1-9FCC-4AEA-839A-4E7D98CCD835}" dt="2026-10-07T03:18:36.206" v="318" actId="1076"/>
          <ac:spMkLst>
            <pc:docMk/>
            <pc:sldMk cId="0" sldId="274"/>
            <ac:spMk id="2" creationId="{00000000-0000-0000-0000-000000000000}"/>
          </ac:spMkLst>
        </pc:spChg>
        <pc:spChg chg="add">
          <ac:chgData name="khethana ganta" userId="c7786f2083535dee" providerId="LiveId" clId="{29500FE1-9FCC-4AEA-839A-4E7D98CCD835}" dt="2026-10-07T03:18:32.926" v="316" actId="22"/>
          <ac:spMkLst>
            <pc:docMk/>
            <pc:sldMk cId="0" sldId="274"/>
            <ac:spMk id="4" creationId="{4460941A-BFEE-27CC-0D7E-C463A3290DE3}"/>
          </ac:spMkLst>
        </pc:spChg>
      </pc:sldChg>
      <pc:sldChg chg="addSp delSp modSp mod">
        <pc:chgData name="khethana ganta" userId="c7786f2083535dee" providerId="LiveId" clId="{29500FE1-9FCC-4AEA-839A-4E7D98CCD835}" dt="2026-10-07T03:18:10.457" v="311" actId="1076"/>
        <pc:sldMkLst>
          <pc:docMk/>
          <pc:sldMk cId="0" sldId="275"/>
        </pc:sldMkLst>
        <pc:spChg chg="mod">
          <ac:chgData name="khethana ganta" userId="c7786f2083535dee" providerId="LiveId" clId="{29500FE1-9FCC-4AEA-839A-4E7D98CCD835}" dt="2026-10-07T03:18:10.457" v="311" actId="1076"/>
          <ac:spMkLst>
            <pc:docMk/>
            <pc:sldMk cId="0" sldId="275"/>
            <ac:spMk id="2" creationId="{00000000-0000-0000-0000-000000000000}"/>
          </ac:spMkLst>
        </pc:spChg>
        <pc:spChg chg="add">
          <ac:chgData name="khethana ganta" userId="c7786f2083535dee" providerId="LiveId" clId="{29500FE1-9FCC-4AEA-839A-4E7D98CCD835}" dt="2026-10-07T03:18:04.615" v="310" actId="22"/>
          <ac:spMkLst>
            <pc:docMk/>
            <pc:sldMk cId="0" sldId="275"/>
            <ac:spMk id="4" creationId="{3024480B-3B86-7093-09E4-464EF101E96D}"/>
          </ac:spMkLst>
        </pc:spChg>
      </pc:sldChg>
      <pc:sldChg chg="addSp delSp modSp mod">
        <pc:chgData name="khethana ganta" userId="c7786f2083535dee" providerId="LiveId" clId="{29500FE1-9FCC-4AEA-839A-4E7D98CCD835}" dt="2026-09-30T03:57:13.411" v="139"/>
        <pc:sldMkLst>
          <pc:docMk/>
          <pc:sldMk cId="0" sldId="276"/>
        </pc:sldMkLst>
      </pc:sldChg>
      <pc:sldChg chg="addSp delSp modSp new mod ord">
        <pc:chgData name="khethana ganta" userId="c7786f2083535dee" providerId="LiveId" clId="{29500FE1-9FCC-4AEA-839A-4E7D98CCD835}" dt="2026-10-07T03:34:00.136" v="357" actId="1076"/>
        <pc:sldMkLst>
          <pc:docMk/>
          <pc:sldMk cId="385810571" sldId="277"/>
        </pc:sldMkLst>
        <pc:spChg chg="add">
          <ac:chgData name="khethana ganta" userId="c7786f2083535dee" providerId="LiveId" clId="{29500FE1-9FCC-4AEA-839A-4E7D98CCD835}" dt="2026-10-07T03:18:45.114" v="321" actId="22"/>
          <ac:spMkLst>
            <pc:docMk/>
            <pc:sldMk cId="385810571" sldId="277"/>
            <ac:spMk id="3" creationId="{7E16835B-6E62-F334-88CE-C43E8817D6A2}"/>
          </ac:spMkLst>
        </pc:spChg>
        <pc:picChg chg="add mod">
          <ac:chgData name="khethana ganta" userId="c7786f2083535dee" providerId="LiveId" clId="{29500FE1-9FCC-4AEA-839A-4E7D98CCD835}" dt="2026-10-07T03:34:00.136" v="357" actId="1076"/>
          <ac:picMkLst>
            <pc:docMk/>
            <pc:sldMk cId="385810571" sldId="277"/>
            <ac:picMk id="4" creationId="{9171A4BC-5FC7-C007-54A3-82771F0C400C}"/>
          </ac:picMkLst>
        </pc:picChg>
        <pc:picChg chg="add del mod">
          <ac:chgData name="khethana ganta" userId="c7786f2083535dee" providerId="LiveId" clId="{29500FE1-9FCC-4AEA-839A-4E7D98CCD835}" dt="2026-10-07T03:33:53.581" v="355" actId="478"/>
          <ac:picMkLst>
            <pc:docMk/>
            <pc:sldMk cId="385810571" sldId="277"/>
            <ac:picMk id="13" creationId="{DA00461B-4821-EE8F-B51C-A9FE46DFB4C5}"/>
          </ac:picMkLst>
        </pc:picChg>
      </pc:sldChg>
      <pc:sldChg chg="addSp modSp add mod">
        <pc:chgData name="khethana ganta" userId="c7786f2083535dee" providerId="LiveId" clId="{29500FE1-9FCC-4AEA-839A-4E7D98CCD835}" dt="2026-10-07T03:35:45.510" v="377" actId="120"/>
        <pc:sldMkLst>
          <pc:docMk/>
          <pc:sldMk cId="1739760983" sldId="280"/>
        </pc:sldMkLst>
        <pc:spChg chg="mod">
          <ac:chgData name="khethana ganta" userId="c7786f2083535dee" providerId="LiveId" clId="{29500FE1-9FCC-4AEA-839A-4E7D98CCD835}" dt="2026-09-30T05:22:35.242" v="261" actId="1076"/>
          <ac:spMkLst>
            <pc:docMk/>
            <pc:sldMk cId="1739760983" sldId="280"/>
            <ac:spMk id="2" creationId="{7BF225D1-EC6E-430D-C5C0-935AE30A3ADF}"/>
          </ac:spMkLst>
        </pc:spChg>
        <pc:spChg chg="add">
          <ac:chgData name="khethana ganta" userId="c7786f2083535dee" providerId="LiveId" clId="{29500FE1-9FCC-4AEA-839A-4E7D98CCD835}" dt="2026-10-07T03:18:12.889" v="312" actId="22"/>
          <ac:spMkLst>
            <pc:docMk/>
            <pc:sldMk cId="1739760983" sldId="280"/>
            <ac:spMk id="5" creationId="{7B62309E-9F66-FE96-68BB-02E971190F2E}"/>
          </ac:spMkLst>
        </pc:spChg>
        <pc:graphicFrameChg chg="mod modGraphic">
          <ac:chgData name="khethana ganta" userId="c7786f2083535dee" providerId="LiveId" clId="{29500FE1-9FCC-4AEA-839A-4E7D98CCD835}" dt="2026-10-07T03:35:45.510" v="377" actId="120"/>
          <ac:graphicFrameMkLst>
            <pc:docMk/>
            <pc:sldMk cId="1739760983" sldId="280"/>
            <ac:graphicFrameMk id="3" creationId="{14FFB5E1-1EBA-9EFB-9F8B-6D88E2EC76BC}"/>
          </ac:graphicFrameMkLst>
        </pc:graphicFrameChg>
      </pc:sldChg>
      <pc:sldChg chg="addSp modSp add mod ord">
        <pc:chgData name="khethana ganta" userId="c7786f2083535dee" providerId="LiveId" clId="{29500FE1-9FCC-4AEA-839A-4E7D98CCD835}" dt="2026-10-07T03:30:43.506" v="352" actId="114"/>
        <pc:sldMkLst>
          <pc:docMk/>
          <pc:sldMk cId="4234060334" sldId="281"/>
        </pc:sldMkLst>
        <pc:spChg chg="mod">
          <ac:chgData name="khethana ganta" userId="c7786f2083535dee" providerId="LiveId" clId="{29500FE1-9FCC-4AEA-839A-4E7D98CCD835}" dt="2026-10-07T03:30:43.506" v="352" actId="114"/>
          <ac:spMkLst>
            <pc:docMk/>
            <pc:sldMk cId="4234060334" sldId="281"/>
            <ac:spMk id="2" creationId="{9B2A0051-9B63-F56E-7C2F-96C00CD114BF}"/>
          </ac:spMkLst>
        </pc:spChg>
        <pc:spChg chg="add mod">
          <ac:chgData name="khethana ganta" userId="c7786f2083535dee" providerId="LiveId" clId="{29500FE1-9FCC-4AEA-839A-4E7D98CCD835}" dt="2026-10-07T03:30:37.038" v="349" actId="1076"/>
          <ac:spMkLst>
            <pc:docMk/>
            <pc:sldMk cId="4234060334" sldId="281"/>
            <ac:spMk id="3" creationId="{63EFD13F-83F5-F865-EF9C-10512A41726F}"/>
          </ac:spMkLst>
        </pc:spChg>
        <pc:spChg chg="add">
          <ac:chgData name="khethana ganta" userId="c7786f2083535dee" providerId="LiveId" clId="{29500FE1-9FCC-4AEA-839A-4E7D98CCD835}" dt="2026-10-07T03:18:16.009" v="313" actId="22"/>
          <ac:spMkLst>
            <pc:docMk/>
            <pc:sldMk cId="4234060334" sldId="281"/>
            <ac:spMk id="5" creationId="{4F9C8FC0-87E8-1F23-CC04-680222108499}"/>
          </ac:spMkLst>
        </pc:spChg>
      </pc:sldChg>
      <pc:sldChg chg="addSp delSp modSp add mod">
        <pc:chgData name="khethana ganta" userId="c7786f2083535dee" providerId="LiveId" clId="{29500FE1-9FCC-4AEA-839A-4E7D98CCD835}" dt="2026-10-07T03:52:35.640" v="481" actId="255"/>
        <pc:sldMkLst>
          <pc:docMk/>
          <pc:sldMk cId="1477619284" sldId="282"/>
        </pc:sldMkLst>
        <pc:spChg chg="del">
          <ac:chgData name="khethana ganta" userId="c7786f2083535dee" providerId="LiveId" clId="{29500FE1-9FCC-4AEA-839A-4E7D98CCD835}" dt="2026-10-07T03:31:05.885" v="354" actId="478"/>
          <ac:spMkLst>
            <pc:docMk/>
            <pc:sldMk cId="1477619284" sldId="282"/>
            <ac:spMk id="2" creationId="{D802F312-D232-E2E4-32BA-B1140630B1E4}"/>
          </ac:spMkLst>
        </pc:spChg>
        <pc:spChg chg="add mod">
          <ac:chgData name="khethana ganta" userId="c7786f2083535dee" providerId="LiveId" clId="{29500FE1-9FCC-4AEA-839A-4E7D98CCD835}" dt="2026-10-07T03:52:35.640" v="481" actId="255"/>
          <ac:spMkLst>
            <pc:docMk/>
            <pc:sldMk cId="1477619284" sldId="282"/>
            <ac:spMk id="3" creationId="{4B676355-F24A-E288-144C-6999E7FD8B64}"/>
          </ac:spMkLst>
        </pc:spChg>
        <pc:spChg chg="add mod">
          <ac:chgData name="khethana ganta" userId="c7786f2083535dee" providerId="LiveId" clId="{29500FE1-9FCC-4AEA-839A-4E7D98CCD835}" dt="2026-10-07T03:37:20.248" v="409" actId="1076"/>
          <ac:spMkLst>
            <pc:docMk/>
            <pc:sldMk cId="1477619284" sldId="282"/>
            <ac:spMk id="5" creationId="{A521B974-5D8D-6C56-6EA6-6333D04004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A8E43-EA19-4686-A30F-9019A14486D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BD524-93AB-4B3D-9D7B-9CFABD4F6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82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D524-93AB-4B3D-9D7B-9CFABD4F671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186/s40537-015-0028-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l.acm.org/doi/10.1145/3593043" TargetMode="External"/><Relationship Id="rId4" Type="http://schemas.openxmlformats.org/officeDocument/2006/relationships/hyperlink" Target="https://www.sciencedirect.com/science/article/abs/pii/S0736584519300559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186/s40537-022-00672-6" TargetMode="External"/><Relationship Id="rId2" Type="http://schemas.openxmlformats.org/officeDocument/2006/relationships/hyperlink" Target="https://www.mdpi.com/2073-431X/14/7/24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esearch.uaeu.ac.ae/en/publications/big-data-quality-a-survey/?utm_source=chatgpt.co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084804516301564?utm_source=chatgpt.com" TargetMode="External"/><Relationship Id="rId2" Type="http://schemas.openxmlformats.org/officeDocument/2006/relationships/hyperlink" Target="https://link.springer.com/article/10.1186/s40537-020-0285-1?utm_source=chatgp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www.frontiersin.org/journals/big-data/articles/10.3389/fdata.2022.850611/full?utm_source=chatgpt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2575">
            <a:off x="7846541" y="-3643823"/>
            <a:ext cx="6286050" cy="6286050"/>
          </a:xfrm>
          <a:custGeom>
            <a:avLst/>
            <a:gdLst/>
            <a:ahLst/>
            <a:cxnLst/>
            <a:rect l="l" t="t" r="r" b="b"/>
            <a:pathLst>
              <a:path w="6286050" h="6286050">
                <a:moveTo>
                  <a:pt x="0" y="0"/>
                </a:moveTo>
                <a:lnTo>
                  <a:pt x="6286049" y="0"/>
                </a:lnTo>
                <a:lnTo>
                  <a:pt x="6286049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01374">
            <a:off x="11675076" y="7490644"/>
            <a:ext cx="6286050" cy="6286050"/>
          </a:xfrm>
          <a:custGeom>
            <a:avLst/>
            <a:gdLst/>
            <a:ahLst/>
            <a:cxnLst/>
            <a:rect l="l" t="t" r="r" b="b"/>
            <a:pathLst>
              <a:path w="6286050" h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678564">
            <a:off x="-333682" y="5643640"/>
            <a:ext cx="5021716" cy="3960878"/>
          </a:xfrm>
          <a:custGeom>
            <a:avLst/>
            <a:gdLst/>
            <a:ahLst/>
            <a:cxnLst/>
            <a:rect l="l" t="t" r="r" b="b"/>
            <a:pathLst>
              <a:path w="5021716" h="3960878">
                <a:moveTo>
                  <a:pt x="0" y="0"/>
                </a:moveTo>
                <a:lnTo>
                  <a:pt x="5021716" y="0"/>
                </a:lnTo>
                <a:lnTo>
                  <a:pt x="5021716" y="3960879"/>
                </a:lnTo>
                <a:lnTo>
                  <a:pt x="0" y="39608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1"/>
            <a:ext cx="2438400" cy="1104900"/>
          </a:xfrm>
          <a:custGeom>
            <a:avLst/>
            <a:gdLst/>
            <a:ahLst/>
            <a:cxnLst/>
            <a:rect l="l" t="t" r="r" b="b"/>
            <a:pathLst>
              <a:path w="3135364" h="1383489">
                <a:moveTo>
                  <a:pt x="0" y="0"/>
                </a:moveTo>
                <a:lnTo>
                  <a:pt x="3135364" y="0"/>
                </a:lnTo>
                <a:lnTo>
                  <a:pt x="3135364" y="1383489"/>
                </a:lnTo>
                <a:lnTo>
                  <a:pt x="0" y="1383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7755" b="-2069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2795577" y="165904"/>
            <a:ext cx="14354895" cy="1453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2"/>
              </a:lnSpc>
            </a:pPr>
            <a:r>
              <a:rPr lang="en-US" sz="4800" b="1" spc="144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DATAFORGE – INTELLIGENT ETL &amp; DATA QUALITY PLATFORM FOR MANUFACTURING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15222" y="1619801"/>
            <a:ext cx="10315607" cy="50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0"/>
              </a:lnSpc>
              <a:spcBef>
                <a:spcPct val="0"/>
              </a:spcBef>
            </a:pPr>
            <a:r>
              <a:rPr lang="en-US" sz="2950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Fundamentals of Data Engineering- 24DEA3101R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99069" y="2429451"/>
            <a:ext cx="5215578" cy="266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537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Submitted by:</a:t>
            </a:r>
          </a:p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537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V. Preetham Nikil - 2420030302</a:t>
            </a:r>
          </a:p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537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V .Chandra - 2420030291</a:t>
            </a:r>
          </a:p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537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G. </a:t>
            </a:r>
            <a:r>
              <a:rPr lang="en-US" sz="2537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Khethana</a:t>
            </a:r>
            <a:r>
              <a:rPr lang="en-US" sz="2537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– 2420030461</a:t>
            </a:r>
          </a:p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537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Team No: 11</a:t>
            </a:r>
          </a:p>
          <a:p>
            <a:pPr algn="ctr">
              <a:lnSpc>
                <a:spcPts val="3552"/>
              </a:lnSpc>
              <a:spcBef>
                <a:spcPct val="0"/>
              </a:spcBef>
            </a:pPr>
            <a:r>
              <a:rPr lang="en-US" sz="2537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Section: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34584" y="5488694"/>
            <a:ext cx="3391892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Under the Guidance of: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Dr. N Shirisha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Associate Professor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FFFFFF"/>
              </a:solidFill>
              <a:latin typeface="Roca Two"/>
              <a:ea typeface="Roca Two"/>
              <a:cs typeface="Roca Two"/>
              <a:sym typeface="Roca Tw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263142" y="8699842"/>
            <a:ext cx="6334777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KLH University Hyderabad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</a:t>
            </a:r>
            <a:r>
              <a:rPr lang="en-US" sz="2699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Bowrampet</a:t>
            </a:r>
            <a:r>
              <a:rPr lang="en-US" sz="26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, </a:t>
            </a:r>
            <a:r>
              <a:rPr lang="en-US" sz="2699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Bachupally</a:t>
            </a:r>
            <a:r>
              <a:rPr lang="en-US" sz="26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– 500090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Telangana, India</a:t>
            </a:r>
          </a:p>
        </p:txBody>
      </p:sp>
      <p:sp>
        <p:nvSpPr>
          <p:cNvPr id="11" name="Freeform 11"/>
          <p:cNvSpPr/>
          <p:nvPr/>
        </p:nvSpPr>
        <p:spPr>
          <a:xfrm>
            <a:off x="7349732" y="7292046"/>
            <a:ext cx="4114252" cy="1407796"/>
          </a:xfrm>
          <a:custGeom>
            <a:avLst/>
            <a:gdLst/>
            <a:ahLst/>
            <a:cxnLst/>
            <a:rect l="l" t="t" r="r" b="b"/>
            <a:pathLst>
              <a:path w="4787675" h="2148724">
                <a:moveTo>
                  <a:pt x="0" y="0"/>
                </a:moveTo>
                <a:lnTo>
                  <a:pt x="4787675" y="0"/>
                </a:lnTo>
                <a:lnTo>
                  <a:pt x="4787675" y="2148724"/>
                </a:lnTo>
                <a:lnTo>
                  <a:pt x="0" y="21487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0999" b="-4615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1"/>
            <a:ext cx="5514142" cy="10287000"/>
            <a:chOff x="0" y="0"/>
            <a:chExt cx="6034780" cy="34883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34780" cy="3488352"/>
            </a:xfrm>
            <a:custGeom>
              <a:avLst/>
              <a:gdLst/>
              <a:ahLst/>
              <a:cxnLst/>
              <a:rect l="l" t="t" r="r" b="b"/>
              <a:pathLst>
                <a:path w="6034780" h="3488352">
                  <a:moveTo>
                    <a:pt x="0" y="0"/>
                  </a:moveTo>
                  <a:lnTo>
                    <a:pt x="6034780" y="0"/>
                  </a:lnTo>
                  <a:lnTo>
                    <a:pt x="6034780" y="3488352"/>
                  </a:lnTo>
                  <a:lnTo>
                    <a:pt x="0" y="348835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034780" cy="3526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722575">
            <a:off x="7608974" y="-4059639"/>
            <a:ext cx="6286050" cy="6286050"/>
          </a:xfrm>
          <a:custGeom>
            <a:avLst/>
            <a:gdLst/>
            <a:ahLst/>
            <a:cxnLst/>
            <a:rect l="l" t="t" r="r" b="b"/>
            <a:pathLst>
              <a:path w="6286050" h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22575">
            <a:off x="13066746" y="7719383"/>
            <a:ext cx="6286050" cy="6286050"/>
          </a:xfrm>
          <a:custGeom>
            <a:avLst/>
            <a:gdLst/>
            <a:ahLst/>
            <a:cxnLst/>
            <a:rect l="l" t="t" r="r" b="b"/>
            <a:pathLst>
              <a:path w="6286050" h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87110" y="-91671"/>
            <a:ext cx="12088704" cy="10479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sz="2400" dirty="0">
              <a:solidFill>
                <a:schemeClr val="bg2"/>
              </a:solidFill>
              <a:latin typeface="Roca Two" panose="020B0604020202020204" charset="0"/>
            </a:endParaRPr>
          </a:p>
          <a:p>
            <a:pPr marL="76124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112" dirty="0">
                <a:solidFill>
                  <a:schemeClr val="bg2"/>
                </a:solidFill>
                <a:latin typeface="Roca Two" panose="020B0604020202020204" charset="0"/>
                <a:ea typeface="Roca Two"/>
                <a:cs typeface="Roca Two"/>
                <a:sym typeface="Roca Two"/>
              </a:rPr>
              <a:t>Manufacturing organizations generate data from production, machines, inventory, maintenance, and quality inspection.</a:t>
            </a:r>
          </a:p>
          <a:p>
            <a:pPr marL="76124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112" dirty="0">
                <a:solidFill>
                  <a:schemeClr val="bg2"/>
                </a:solidFill>
                <a:latin typeface="Roca Two" panose="020B0604020202020204" charset="0"/>
                <a:ea typeface="Roca Two"/>
                <a:cs typeface="Roca Two"/>
                <a:sym typeface="Roca Two"/>
              </a:rPr>
              <a:t>Earlier, this data was stored in separate systems and required manual processing.</a:t>
            </a:r>
          </a:p>
          <a:p>
            <a:pPr marL="761249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112" dirty="0">
                <a:solidFill>
                  <a:schemeClr val="bg2"/>
                </a:solidFill>
                <a:latin typeface="Roca Two" panose="020B0604020202020204" charset="0"/>
                <a:ea typeface="Roca Two"/>
                <a:cs typeface="Roca Two"/>
                <a:sym typeface="Roca Two"/>
              </a:rPr>
              <a:t>This caused problems such as missing values, duplicate records, inconsistent formats, and invalid data.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 Automated ETL: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Successfully automated the extraction, transformation, and processing of manufacturing data.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  Data Quality: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Detected missing, duplicate, inconsistent, and invalid records through automated validation.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Quality Improvement: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Improved demonstrated data quality from </a:t>
            </a: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91.3% to 100%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Invalid Record Detection: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Increased invalid-record detection from </a:t>
            </a: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4.3% to 12.8%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compared with the existing approach.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Processing Performance: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Achieved </a:t>
            </a: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60.6 K records/min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throughput and </a:t>
            </a: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1.50 sec/1K records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processing time.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Reliable Output: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Produced </a:t>
            </a: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clean, validated, and analytics-ready manufacturing data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spc="112" dirty="0">
              <a:solidFill>
                <a:schemeClr val="bg2"/>
              </a:solidFill>
              <a:latin typeface="Roca Two" panose="020B0604020202020204" charset="0"/>
              <a:ea typeface="Roca Two"/>
              <a:cs typeface="Roca Two"/>
              <a:sym typeface="Roca Two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67502" y="-112354"/>
            <a:ext cx="2636835" cy="1536479"/>
          </a:xfrm>
          <a:custGeom>
            <a:avLst/>
            <a:gdLst/>
            <a:ahLst/>
            <a:cxnLst/>
            <a:rect l="l" t="t" r="r" b="b"/>
            <a:pathLst>
              <a:path w="2636835" h="1536479">
                <a:moveTo>
                  <a:pt x="0" y="0"/>
                </a:moveTo>
                <a:lnTo>
                  <a:pt x="2636835" y="0"/>
                </a:lnTo>
                <a:lnTo>
                  <a:pt x="2636835" y="1536479"/>
                </a:lnTo>
                <a:lnTo>
                  <a:pt x="0" y="1536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755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-172970" y="4159295"/>
            <a:ext cx="5754612" cy="92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7"/>
              </a:lnSpc>
            </a:pPr>
            <a:r>
              <a:rPr lang="en-US" sz="7341" b="1" dirty="0">
                <a:solidFill>
                  <a:srgbClr val="DC882D"/>
                </a:solidFill>
                <a:latin typeface="Roca Two Bold"/>
                <a:ea typeface="Roca Two Bold"/>
                <a:cs typeface="Roca Two Bold"/>
                <a:sym typeface="Roca Two Bold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0"/>
            <a:ext cx="18288000" cy="2800269"/>
            <a:chOff x="0" y="0"/>
            <a:chExt cx="6434519" cy="1039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34519" cy="1039424"/>
            </a:xfrm>
            <a:custGeom>
              <a:avLst/>
              <a:gdLst/>
              <a:ahLst/>
              <a:cxnLst/>
              <a:rect l="l" t="t" r="r" b="b"/>
              <a:pathLst>
                <a:path w="6434519" h="1039424">
                  <a:moveTo>
                    <a:pt x="0" y="0"/>
                  </a:moveTo>
                  <a:lnTo>
                    <a:pt x="6434519" y="0"/>
                  </a:lnTo>
                  <a:lnTo>
                    <a:pt x="6434519" y="1039424"/>
                  </a:lnTo>
                  <a:lnTo>
                    <a:pt x="0" y="1039424"/>
                  </a:lnTo>
                  <a:close/>
                </a:path>
              </a:pathLst>
            </a:custGeom>
            <a:solidFill>
              <a:srgbClr val="DC882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434519" cy="1077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" y="2413879"/>
            <a:ext cx="18288001" cy="125020"/>
            <a:chOff x="0" y="0"/>
            <a:chExt cx="6434519" cy="432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4519" cy="43290"/>
            </a:xfrm>
            <a:custGeom>
              <a:avLst/>
              <a:gdLst/>
              <a:ahLst/>
              <a:cxnLst/>
              <a:rect l="l" t="t" r="r" b="b"/>
              <a:pathLst>
                <a:path w="6434519" h="43290">
                  <a:moveTo>
                    <a:pt x="0" y="0"/>
                  </a:moveTo>
                  <a:lnTo>
                    <a:pt x="6434519" y="0"/>
                  </a:lnTo>
                  <a:lnTo>
                    <a:pt x="6434519" y="43290"/>
                  </a:lnTo>
                  <a:lnTo>
                    <a:pt x="0" y="4329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34519" cy="81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" y="-47377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-32428" y="2244185"/>
            <a:ext cx="17422951" cy="8441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57"/>
              </a:lnSpc>
            </a:pPr>
            <a:endParaRPr dirty="0"/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Manufacturing organizations generate large amounts of data from production, machine sensors, inventory, maintenance, and quality inspection.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Previously, this data was stored in different systems and different formats, making it difficult to manage and combine.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The existing approach often required manual data collection and processing.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This resulted in problems such as: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Missing values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Duplicate records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Inconsistent data formats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Invalid measurements</a:t>
            </a:r>
          </a:p>
          <a:p>
            <a:pPr marL="577744" lvl="1" indent="-288872" algn="just">
              <a:lnSpc>
                <a:spcPts val="5057"/>
              </a:lnSpc>
              <a:buFont typeface="Arial"/>
              <a:buChar char="•"/>
            </a:pPr>
            <a:r>
              <a:rPr lang="en-US" sz="2675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Difficulty in integrating data from different departments</a:t>
            </a:r>
          </a:p>
          <a:p>
            <a:pPr algn="just">
              <a:lnSpc>
                <a:spcPts val="5057"/>
              </a:lnSpc>
            </a:pPr>
            <a:endParaRPr lang="en-US" sz="2675" dirty="0">
              <a:solidFill>
                <a:srgbClr val="FFFFFF"/>
              </a:solidFill>
              <a:latin typeface="Roca Two"/>
              <a:ea typeface="Roca Two"/>
              <a:cs typeface="Roca Two"/>
              <a:sym typeface="Roca Tw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3335" y="455860"/>
            <a:ext cx="17424572" cy="1526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899"/>
              </a:lnSpc>
              <a:spcBef>
                <a:spcPct val="0"/>
              </a:spcBef>
            </a:pPr>
            <a:r>
              <a:rPr lang="en-US" sz="8000" b="1" spc="299" dirty="0">
                <a:solidFill>
                  <a:srgbClr val="FFFFFF"/>
                </a:solidFill>
                <a:latin typeface="Roca Two Ultra-Bold"/>
                <a:ea typeface="Roca Two Ultra-Bold"/>
                <a:cs typeface="Roca Two Ultra-Bold"/>
                <a:sym typeface="Roca Two Ultra-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" y="1198389"/>
            <a:ext cx="17523572" cy="9113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Manufacturing was chosen for this project because it generates large volumes of important operational data, and reliable data is necessary for efficient operations and decision-making.</a:t>
            </a: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DataForge</a:t>
            </a: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is introduced to overcome these problems by bringing manufacturing data into a single intelligent platform.</a:t>
            </a:r>
          </a:p>
          <a:p>
            <a:pPr algn="just">
              <a:lnSpc>
                <a:spcPts val="4557"/>
              </a:lnSpc>
            </a:pPr>
            <a:endParaRPr lang="en-US" sz="3038" dirty="0">
              <a:solidFill>
                <a:srgbClr val="FFFFFF"/>
              </a:solidFill>
              <a:latin typeface="Roca Two"/>
              <a:ea typeface="Roca Two"/>
              <a:cs typeface="Roca Two"/>
              <a:sym typeface="Roca Two"/>
            </a:endParaRP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The project uses:</a:t>
            </a: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ETL for extracting and transforming data</a:t>
            </a: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Apache Kafka for real-time data ingestion</a:t>
            </a: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Apache </a:t>
            </a:r>
            <a:r>
              <a:rPr lang="en-US" sz="3038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PySpark</a:t>
            </a: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for scalable data processing</a:t>
            </a: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Automated Data Quality Checks for identifying and handling data errors</a:t>
            </a: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The main change brought by </a:t>
            </a:r>
            <a:r>
              <a:rPr lang="en-US" sz="3038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DataForge</a:t>
            </a: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is the transformation of scattered and unreliable data into centralized, clean, validated, and analytics-ready data.</a:t>
            </a:r>
          </a:p>
          <a:p>
            <a:pPr algn="just">
              <a:lnSpc>
                <a:spcPts val="4557"/>
              </a:lnSpc>
            </a:pPr>
            <a:endParaRPr lang="en-US" sz="3038" dirty="0">
              <a:solidFill>
                <a:srgbClr val="FFFFFF"/>
              </a:solidFill>
              <a:latin typeface="Roca Two"/>
              <a:ea typeface="Roca Two"/>
              <a:cs typeface="Roca Two"/>
              <a:sym typeface="Roca Two"/>
            </a:endParaRPr>
          </a:p>
          <a:p>
            <a:pPr marL="656004" lvl="1" indent="-328002" algn="just">
              <a:lnSpc>
                <a:spcPts val="4557"/>
              </a:lnSpc>
              <a:buFont typeface="Arial"/>
              <a:buChar char="•"/>
            </a:pPr>
            <a:r>
              <a:rPr lang="en-US" sz="3038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Final Outcome: The platform reduces manual effort, improves data quality and reliability, and helps manufacturing organizations make accurate data-driven decisions.</a:t>
            </a:r>
          </a:p>
          <a:p>
            <a:pPr algn="just">
              <a:lnSpc>
                <a:spcPts val="4557"/>
              </a:lnSpc>
            </a:pPr>
            <a:endParaRPr lang="en-US" sz="3038" dirty="0">
              <a:solidFill>
                <a:srgbClr val="FFFFFF"/>
              </a:solidFill>
              <a:latin typeface="Roca Two"/>
              <a:ea typeface="Roca Two"/>
              <a:cs typeface="Roca Two"/>
              <a:sym typeface="Roca Two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0" y="-181751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01374">
            <a:off x="299870" y="7746267"/>
            <a:ext cx="6286050" cy="6286050"/>
          </a:xfrm>
          <a:custGeom>
            <a:avLst/>
            <a:gdLst/>
            <a:ahLst/>
            <a:cxnLst/>
            <a:rect l="l" t="t" r="r" b="b"/>
            <a:pathLst>
              <a:path w="6286050" h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801374">
            <a:off x="5005547" y="-4304527"/>
            <a:ext cx="6286050" cy="6286050"/>
          </a:xfrm>
          <a:custGeom>
            <a:avLst/>
            <a:gdLst/>
            <a:ahLst/>
            <a:cxnLst/>
            <a:rect l="l" t="t" r="r" b="b"/>
            <a:pathLst>
              <a:path w="6286050" h="6286050">
                <a:moveTo>
                  <a:pt x="0" y="0"/>
                </a:moveTo>
                <a:lnTo>
                  <a:pt x="6286050" y="0"/>
                </a:lnTo>
                <a:lnTo>
                  <a:pt x="6286050" y="6286049"/>
                </a:lnTo>
                <a:lnTo>
                  <a:pt x="0" y="62860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9335" y="1419098"/>
            <a:ext cx="16529329" cy="884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3"/>
              </a:lnSpc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Problem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Manufacturing data comes from multiple internal sources and formats.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Raw data may contain missing values, duplicates, inconsistencies, and invalid records.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Real-time machine data requires continuous and efficient processing.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Manual data cleaning is time-consuming and error-prone.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Poor-quality data can lead to inaccurate analysis and decisions.</a:t>
            </a:r>
          </a:p>
          <a:p>
            <a:pPr algn="just">
              <a:lnSpc>
                <a:spcPts val="3963"/>
              </a:lnSpc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Outcome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Automated and scalable manufacturing data processing.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Improved data quality, consistency, and reliability.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Reduced manual data-cleaning effort.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Real-time processing of machine and production data.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Provides clean and validated data for analysis and reporting.</a:t>
            </a:r>
          </a:p>
          <a:p>
            <a:pPr marL="545062" lvl="1" indent="-272531" algn="just">
              <a:lnSpc>
                <a:spcPts val="3963"/>
              </a:lnSpc>
              <a:buFont typeface="Arial"/>
              <a:buChar char="•"/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Supports better data-driven manufacturing decisions.</a:t>
            </a:r>
          </a:p>
          <a:p>
            <a:pPr algn="just">
              <a:lnSpc>
                <a:spcPts val="3963"/>
              </a:lnSpc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Main Technologies</a:t>
            </a:r>
          </a:p>
          <a:p>
            <a:pPr algn="just">
              <a:lnSpc>
                <a:spcPts val="3963"/>
              </a:lnSpc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Python → Apache Kafka → Apache </a:t>
            </a:r>
            <a:r>
              <a:rPr lang="en-US" sz="2524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PySpark</a:t>
            </a: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→ Data Quality Validation → MySQL</a:t>
            </a:r>
          </a:p>
          <a:p>
            <a:pPr algn="just">
              <a:lnSpc>
                <a:spcPts val="3963"/>
              </a:lnSpc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Simple Pipeline</a:t>
            </a:r>
          </a:p>
          <a:p>
            <a:pPr algn="just">
              <a:lnSpc>
                <a:spcPts val="3963"/>
              </a:lnSpc>
            </a:pP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Internal Manufacturing Data → Kafka → </a:t>
            </a:r>
            <a:r>
              <a:rPr lang="en-US" sz="2524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PySpark</a:t>
            </a:r>
            <a:r>
              <a:rPr lang="en-US" sz="2524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 ETL → Data Quality Checks → MySQL → Analytics/Reports</a:t>
            </a:r>
          </a:p>
          <a:p>
            <a:pPr algn="just">
              <a:lnSpc>
                <a:spcPts val="3457"/>
              </a:lnSpc>
            </a:pPr>
            <a:endParaRPr lang="en-US" sz="2524" dirty="0">
              <a:solidFill>
                <a:srgbClr val="FFFFFF"/>
              </a:solidFill>
              <a:latin typeface="Roca Two"/>
              <a:ea typeface="Roca Two"/>
              <a:cs typeface="Roca Two"/>
              <a:sym typeface="Roca Two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17834" y="-95250"/>
            <a:ext cx="2667000" cy="1451126"/>
          </a:xfrm>
          <a:custGeom>
            <a:avLst/>
            <a:gdLst/>
            <a:ahLst/>
            <a:cxnLst/>
            <a:rect l="l" t="t" r="r" b="b"/>
            <a:pathLst>
              <a:path w="3442895" h="1451126">
                <a:moveTo>
                  <a:pt x="0" y="0"/>
                </a:moveTo>
                <a:lnTo>
                  <a:pt x="3442895" y="0"/>
                </a:lnTo>
                <a:lnTo>
                  <a:pt x="3442895" y="1451126"/>
                </a:lnTo>
                <a:lnTo>
                  <a:pt x="0" y="1451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3210" r="-505" b="-2403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0" y="614204"/>
            <a:ext cx="6906234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8"/>
              </a:lnSpc>
              <a:spcBef>
                <a:spcPct val="0"/>
              </a:spcBef>
            </a:pPr>
            <a:r>
              <a:rPr lang="en-US" sz="99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Objectives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2409567"/>
            <a:ext cx="18291243" cy="129946"/>
            <a:chOff x="0" y="0"/>
            <a:chExt cx="6434519" cy="432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34519" cy="43290"/>
            </a:xfrm>
            <a:custGeom>
              <a:avLst/>
              <a:gdLst/>
              <a:ahLst/>
              <a:cxnLst/>
              <a:rect l="l" t="t" r="r" b="b"/>
              <a:pathLst>
                <a:path w="6434519" h="43290">
                  <a:moveTo>
                    <a:pt x="0" y="0"/>
                  </a:moveTo>
                  <a:lnTo>
                    <a:pt x="6434519" y="0"/>
                  </a:lnTo>
                  <a:lnTo>
                    <a:pt x="6434519" y="43290"/>
                  </a:lnTo>
                  <a:lnTo>
                    <a:pt x="0" y="4329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434519" cy="81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621" y="-57086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7"/>
          <p:cNvSpPr txBox="1"/>
          <p:nvPr/>
        </p:nvSpPr>
        <p:spPr>
          <a:xfrm>
            <a:off x="609600" y="2539513"/>
            <a:ext cx="15988986" cy="739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49"/>
              </a:lnSpc>
            </a:pPr>
            <a:endParaRPr dirty="0"/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Integrate manufacturing data from multiple departments into one platform.</a:t>
            </a:r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Automate the process of collecting and processing manufacturing data.</a:t>
            </a:r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Improve Data Quality by detecting missing, duplicate, inconsistent, and invalid data.</a:t>
            </a:r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Enable Real-Time Processing using Apache Kafka.</a:t>
            </a:r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Handle Large-Scale Data efficiently using Apache </a:t>
            </a:r>
            <a:r>
              <a:rPr lang="en-US" sz="3299" dirty="0" err="1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PySpark</a:t>
            </a: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.</a:t>
            </a:r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Create a Reliable Centralized Dataset for analytics and reporting.</a:t>
            </a:r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Reduce Manual Effort and improve the speed of data processing.</a:t>
            </a:r>
          </a:p>
          <a:p>
            <a:pPr marL="712462" lvl="1" indent="-356231" algn="just">
              <a:lnSpc>
                <a:spcPts val="4949"/>
              </a:lnSpc>
              <a:buFont typeface="Arial"/>
              <a:buChar char="•"/>
            </a:pPr>
            <a:r>
              <a:rPr lang="en-US" sz="3299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Support Better Decision-Making using accurate and high-quality manufacturing data.</a:t>
            </a:r>
          </a:p>
          <a:p>
            <a:pPr algn="just">
              <a:lnSpc>
                <a:spcPts val="4949"/>
              </a:lnSpc>
            </a:pPr>
            <a:endParaRPr lang="en-US" sz="3299" dirty="0">
              <a:solidFill>
                <a:srgbClr val="FFFFFF"/>
              </a:solidFill>
              <a:latin typeface="Roca Two"/>
              <a:ea typeface="Roca Two"/>
              <a:cs typeface="Roca Two"/>
              <a:sym typeface="Roca Tw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53786"/>
            <a:ext cx="18288000" cy="148633"/>
            <a:chOff x="0" y="0"/>
            <a:chExt cx="6434519" cy="432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34519" cy="43290"/>
            </a:xfrm>
            <a:custGeom>
              <a:avLst/>
              <a:gdLst/>
              <a:ahLst/>
              <a:cxnLst/>
              <a:rect l="l" t="t" r="r" b="b"/>
              <a:pathLst>
                <a:path w="6434519" h="43290">
                  <a:moveTo>
                    <a:pt x="0" y="0"/>
                  </a:moveTo>
                  <a:lnTo>
                    <a:pt x="6434519" y="0"/>
                  </a:lnTo>
                  <a:lnTo>
                    <a:pt x="6434519" y="43290"/>
                  </a:lnTo>
                  <a:lnTo>
                    <a:pt x="0" y="4329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434519" cy="81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-97200"/>
            <a:ext cx="2667000" cy="1079415"/>
          </a:xfrm>
          <a:custGeom>
            <a:avLst/>
            <a:gdLst/>
            <a:ahLst/>
            <a:cxnLst/>
            <a:rect l="l" t="t" r="r" b="b"/>
            <a:pathLst>
              <a:path w="2881617" h="1280087">
                <a:moveTo>
                  <a:pt x="0" y="0"/>
                </a:moveTo>
                <a:lnTo>
                  <a:pt x="2881617" y="0"/>
                </a:lnTo>
                <a:lnTo>
                  <a:pt x="2881617" y="1280087"/>
                </a:lnTo>
                <a:lnTo>
                  <a:pt x="0" y="1280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4753" b="-22567"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853668"/>
              </p:ext>
            </p:extLst>
          </p:nvPr>
        </p:nvGraphicFramePr>
        <p:xfrm>
          <a:off x="218976" y="1426107"/>
          <a:ext cx="17850048" cy="8962087"/>
        </p:xfrm>
        <a:graphic>
          <a:graphicData uri="http://schemas.openxmlformats.org/drawingml/2006/table">
            <a:tbl>
              <a:tblPr/>
              <a:tblGrid>
                <a:gridCol w="233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701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Paper Link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Authors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Drawbacks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Future Work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356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1800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3" tooltip="https://link.springer.com/article/10.1186/s40537-015-0028-x"/>
                        </a:rPr>
                        <a:t>Paper Link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Peter O'Donovan</a:t>
                      </a:r>
                      <a:endParaRPr lang="en-US" sz="1800" dirty="0"/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Kevin Leahy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Ken Bruton</a:t>
                      </a:r>
                    </a:p>
                    <a:p>
                      <a:pPr algn="l">
                        <a:lnSpc>
                          <a:spcPts val="2799"/>
                        </a:lnSpc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Dominic T. J. O'Sullivan</a:t>
                      </a:r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800" dirty="0">
                        <a:solidFill>
                          <a:srgbClr val="FFFFFF"/>
                        </a:solidFill>
                        <a:latin typeface="Roca Two"/>
                        <a:ea typeface="Roca Two"/>
                        <a:cs typeface="Roca Two"/>
                        <a:sym typeface="Roca Tw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7031" lvl="1" indent="-183515" algn="l">
                        <a:lnSpc>
                          <a:spcPts val="2380"/>
                        </a:lnSpc>
                        <a:buAutoNum type="arabicPeriod"/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The study provides a broad mapping of the research area but sacrifices detailed depth.</a:t>
                      </a:r>
                      <a:endParaRPr lang="en-US" sz="1800"/>
                    </a:p>
                    <a:p>
                      <a:pPr marL="367031" lvl="1" indent="-183515" algn="l">
                        <a:lnSpc>
                          <a:spcPts val="2380"/>
                        </a:lnSpc>
                        <a:buAutoNum type="arabicPeriod"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Manufacturing big-data research was still relatively immature.</a:t>
                      </a:r>
                    </a:p>
                    <a:p>
                      <a:pPr marL="367031" lvl="1" indent="-183515" algn="l">
                        <a:lnSpc>
                          <a:spcPts val="2380"/>
                        </a:lnSpc>
                        <a:buAutoNum type="arabicPeriod"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There was a high proportion of theoretical/philosophical research and comparatively limited rigorous evaluation of practical solutions.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More real-world implementation and evaluation of big-data technologies in manufacturing.</a:t>
                      </a:r>
                      <a:endParaRPr lang="en-US" sz="1800" dirty="0"/>
                    </a:p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Development of mature platforms and validated manufacturing applications.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46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1800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4" tooltip="https://www.sciencedirect.com/science/article/abs/pii/S0736584519300559?utm_source=chatgpt.com"/>
                        </a:rPr>
                        <a:t>Paper Link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3219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Yesheng Cui</a:t>
                      </a:r>
                      <a:endParaRPr lang="en-US" sz="1800"/>
                    </a:p>
                    <a:p>
                      <a:pPr algn="just">
                        <a:lnSpc>
                          <a:spcPts val="3219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Sami Kara</a:t>
                      </a:r>
                    </a:p>
                    <a:p>
                      <a:pPr algn="just">
                        <a:lnSpc>
                          <a:spcPts val="3219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Ka C. Chan</a:t>
                      </a:r>
                    </a:p>
                    <a:p>
                      <a:pPr algn="just">
                        <a:lnSpc>
                          <a:spcPts val="3219"/>
                        </a:lnSpc>
                      </a:pPr>
                      <a:endParaRPr lang="en-US" sz="1800">
                        <a:solidFill>
                          <a:srgbClr val="FFFFFF"/>
                        </a:solidFill>
                        <a:latin typeface="Roca Two"/>
                        <a:ea typeface="Roca Two"/>
                        <a:cs typeface="Roca Two"/>
                        <a:sym typeface="Roca Tw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8620" lvl="1" indent="-194310" algn="l">
                        <a:lnSpc>
                          <a:spcPts val="2520"/>
                        </a:lnSpc>
                        <a:buAutoNum type="arabicPeriod"/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The review found no enterprise-ready big-data solution covering the complete manufacturing ecosystem.</a:t>
                      </a:r>
                      <a:endParaRPr lang="en-US" sz="1800" dirty="0"/>
                    </a:p>
                    <a:p>
                      <a:pPr marL="388620" lvl="1" indent="-194310" algn="l">
                        <a:lnSpc>
                          <a:spcPts val="2520"/>
                        </a:lnSpc>
                        <a:buAutoNum type="arabicPeriod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Manufacturing systems have heterogeneous interfaces, protocols, and data definitions.</a:t>
                      </a:r>
                    </a:p>
                    <a:p>
                      <a:pPr marL="388620" lvl="1" indent="-194310" algn="l">
                        <a:lnSpc>
                          <a:spcPts val="2520"/>
                        </a:lnSpc>
                        <a:buAutoNum type="arabicPeriod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Several important manufacturing areas received less research attention.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Connectivity and interoperability</a:t>
                      </a:r>
                      <a:endParaRPr lang="en-US" sz="1800" dirty="0"/>
                    </a:p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Standardized big-data platform design</a:t>
                      </a:r>
                    </a:p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Real-time big-data analytics</a:t>
                      </a:r>
                    </a:p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Modelling and simulation</a:t>
                      </a:r>
                    </a:p>
                    <a:p>
                      <a:pPr marL="410209" lvl="1" indent="-205105" algn="l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Cybersecurity</a:t>
                      </a:r>
                    </a:p>
                    <a:p>
                      <a:pPr algn="l">
                        <a:lnSpc>
                          <a:spcPts val="2659"/>
                        </a:lnSpc>
                      </a:pPr>
                      <a:endParaRPr lang="en-US" sz="1800" dirty="0">
                        <a:solidFill>
                          <a:srgbClr val="FFFFFF"/>
                        </a:solidFill>
                        <a:latin typeface="Roca Two"/>
                        <a:ea typeface="Roca Two"/>
                        <a:cs typeface="Roca Two"/>
                        <a:sym typeface="Roca Tw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551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1800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5" tooltip="https://dl.acm.org/doi/10.1145/3593043"/>
                        </a:rPr>
                        <a:t>Paper Link</a:t>
                      </a:r>
                      <a:endParaRPr lang="en-US" sz="18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519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Arda Goknil</a:t>
                      </a:r>
                      <a:endParaRPr lang="en-US" sz="1800"/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Phu Nguyen</a:t>
                      </a:r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Sagar Sen</a:t>
                      </a:r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Dimitra Politaki</a:t>
                      </a:r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Harris Niavis</a:t>
                      </a:r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Karl John Pedersen</a:t>
                      </a:r>
                    </a:p>
                    <a:p>
                      <a:pPr algn="just">
                        <a:lnSpc>
                          <a:spcPts val="2519"/>
                        </a:lnSpc>
                      </a:pPr>
                      <a:endParaRPr lang="en-US" sz="1800">
                        <a:solidFill>
                          <a:srgbClr val="FFFFFF"/>
                        </a:solidFill>
                        <a:latin typeface="Roca Two"/>
                        <a:ea typeface="Roca Two"/>
                        <a:cs typeface="Roca Two"/>
                        <a:sym typeface="Roca Tw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9" lvl="1" indent="-205105" algn="l">
                        <a:lnSpc>
                          <a:spcPts val="2659"/>
                        </a:lnSpc>
                        <a:buAutoNum type="arabicPeriod"/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Limited research explains the sources and causes of data-quality problems.</a:t>
                      </a:r>
                      <a:endParaRPr lang="en-US" sz="1800"/>
                    </a:p>
                    <a:p>
                      <a:pPr marL="410209" lvl="1" indent="-205105" algn="l">
                        <a:lnSpc>
                          <a:spcPts val="2659"/>
                        </a:lnSpc>
                        <a:buAutoNum type="arabicPeriod"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Very few studies report the practical adoption of data-quality metrics in industrial systems.</a:t>
                      </a:r>
                    </a:p>
                    <a:p>
                      <a:pPr marL="410209" lvl="1" indent="-205105" algn="l">
                        <a:lnSpc>
                          <a:spcPts val="2659"/>
                        </a:lnSpc>
                        <a:buAutoNum type="arabicPeriod"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Some data-repair techniques have limitations in industrial CPS/IoT environments.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8617" lvl="1" indent="-194308" algn="l">
                        <a:lnSpc>
                          <a:spcPts val="25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Develop better techniques based on the causes of data-quality problems.</a:t>
                      </a:r>
                      <a:endParaRPr lang="en-US" sz="1800" dirty="0"/>
                    </a:p>
                    <a:p>
                      <a:pPr marL="388617" lvl="1" indent="-194308" algn="l">
                        <a:lnSpc>
                          <a:spcPts val="2519"/>
                        </a:lnSpc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Study the impact of different computing architectures.</a:t>
                      </a:r>
                    </a:p>
                    <a:p>
                      <a:pPr marL="388617" lvl="1" indent="-194308" algn="l">
                        <a:lnSpc>
                          <a:spcPts val="2519"/>
                        </a:lnSpc>
                        <a:buFont typeface="Arial"/>
                        <a:buChar char="•"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Increase practical adoption of data-quality metrics in industrial environments.</a:t>
                      </a:r>
                    </a:p>
                    <a:p>
                      <a:pPr algn="l">
                        <a:lnSpc>
                          <a:spcPts val="2519"/>
                        </a:lnSpc>
                      </a:pPr>
                      <a:endParaRPr lang="en-US" sz="1800" dirty="0">
                        <a:solidFill>
                          <a:srgbClr val="FFFFFF"/>
                        </a:solidFill>
                        <a:latin typeface="Roca Two"/>
                        <a:ea typeface="Roca Two"/>
                        <a:cs typeface="Roca Two"/>
                        <a:sym typeface="Roca Two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4724400" y="-181755"/>
            <a:ext cx="9291836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Roca Two"/>
                <a:ea typeface="Roca Two"/>
                <a:cs typeface="Roca Two"/>
                <a:sym typeface="Roca Two"/>
              </a:rPr>
              <a:t>Literature survey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51417" y="95250"/>
          <a:ext cx="17785166" cy="10096501"/>
        </p:xfrm>
        <a:graphic>
          <a:graphicData uri="http://schemas.openxmlformats.org/drawingml/2006/table">
            <a:tbl>
              <a:tblPr/>
              <a:tblGrid>
                <a:gridCol w="300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2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0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3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9027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 u="sng" dirty="0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  <a:hlinkClick r:id="rId2" tooltip="https://www.mdpi.com/2073-431X/14/7/241"/>
                        </a:rPr>
                        <a:t>Paper Link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Teresa Peixoto, Óscar Oliveira, Eliana Costa e Silva, Bruno Oliveira, Fillipe Ribeiro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9" lvl="1" indent="-205105" algn="just">
                        <a:lnSpc>
                          <a:spcPts val="2659"/>
                        </a:lnSpc>
                        <a:buAutoNum type="arabicPeriod"/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The implementation was evaluated in a specific real manufacturing scenario.</a:t>
                      </a:r>
                      <a:endParaRPr lang="en-US" sz="1100"/>
                    </a:p>
                    <a:p>
                      <a:pPr marL="410209" lvl="1" indent="-205105" algn="just">
                        <a:lnSpc>
                          <a:spcPts val="2659"/>
                        </a:lnSpc>
                        <a:buAutoNum type="arabicPeriod"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The reported case used a particular sensor/data setup, so broader validation is still needed.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8620" lvl="1" indent="-194310" algn="just">
                        <a:lnSpc>
                          <a:spcPts val="252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Evaluate the effect of data-quality monitoring on decision-making, production stability, and maintenance planning.</a:t>
                      </a:r>
                      <a:endParaRPr lang="en-US" sz="1100"/>
                    </a:p>
                    <a:p>
                      <a:pPr marL="388620" lvl="1" indent="-194310" algn="just">
                        <a:lnSpc>
                          <a:spcPts val="2520"/>
                        </a:lnSpc>
                        <a:buFont typeface="Arial"/>
                        <a:buChar char="•"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Validate the pipeline in different industrial scenarios.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5786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3" tooltip="https://link.springer.com/article/10.1186/s40537-022-00672-6"/>
                        </a:rPr>
                        <a:t>Paper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Altan Cakir, Özgün Akın, Halil Faruk Deniz, Ali Yılmaz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8620" lvl="1" indent="-194310" algn="just">
                        <a:lnSpc>
                          <a:spcPts val="2520"/>
                        </a:lnSpc>
                        <a:buAutoNum type="arabicPeriod"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Uses a complex big-data infrastructure with multiple components.</a:t>
                      </a:r>
                      <a:endParaRPr lang="en-US" sz="1100"/>
                    </a:p>
                    <a:p>
                      <a:pPr marL="388620" lvl="1" indent="-194310" algn="just">
                        <a:lnSpc>
                          <a:spcPts val="2520"/>
                        </a:lnSpc>
                        <a:buAutoNum type="arabicPeriod"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• Requires significant hardware and infrastructure resources.</a:t>
                      </a:r>
                    </a:p>
                    <a:p>
                      <a:pPr marL="388620" lvl="1" indent="-194310" algn="just">
                        <a:lnSpc>
                          <a:spcPts val="2520"/>
                        </a:lnSpc>
                        <a:buAutoNum type="arabicPeriod"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• The case study focuses on a specific plastic injection manufacturing environment.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9" lvl="1" indent="-205105" algn="just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Further develop machine-learning and anomaly-detection solutions.</a:t>
                      </a:r>
                      <a:endParaRPr lang="en-US" sz="1100"/>
                    </a:p>
                    <a:p>
                      <a:pPr marL="410209" lvl="1" indent="-205105" algn="just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Scale the infrastructure as data volume and connected devices increase.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7576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4" tooltip="https://research.uaeu.ac.ae/en/publications/big-data-quality-a-survey/?utm_source=chatgpt.com"/>
                        </a:rPr>
                        <a:t>Paper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Ikbal Taleb, Mohamed Adel Serhani, Rachida Dssouli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1. Broad survey rather than a complete implementation.</a:t>
                      </a:r>
                      <a:endParaRPr lang="en-US" sz="1100"/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2. Quality techniques may vary across different big-data platforms. </a:t>
                      </a:r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3. Limited practical validation in real-time systems.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9" lvl="1" indent="-205105" algn="just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Develop automated quality monitoring. </a:t>
                      </a:r>
                      <a:endParaRPr lang="en-US" sz="1100"/>
                    </a:p>
                    <a:p>
                      <a:pPr marL="410209" lvl="1" indent="-205105" algn="just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Apply quality management across the complete data lifecycle. </a:t>
                      </a:r>
                    </a:p>
                    <a:p>
                      <a:pPr marL="410209" lvl="1" indent="-205105" algn="just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Improve real-time big-data quality assessment.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2869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4" tooltip="https://research.uaeu.ac.ae/en/publications/big-data-quality-a-survey/?utm_source=chatgpt.com"/>
                        </a:rPr>
                        <a:t>Paper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Ikbal Taleb, Mohamed Adel Serhani, Chafik Bouhaddioui, Rachida Dssouli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1. Data quality at the data-inception stage is not fully considered. 2. Framework requires additional implementation and validation. 3. Quality management can be complex in large distributed environments.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5438" lvl="1" indent="-172719" algn="just">
                        <a:lnSpc>
                          <a:spcPts val="22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Include data quality from data generation/inception. </a:t>
                      </a:r>
                      <a:endParaRPr lang="en-US" sz="1100" dirty="0"/>
                    </a:p>
                    <a:p>
                      <a:pPr marL="345438" lvl="1" indent="-172719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Develop automated quality feedback mechanisms. </a:t>
                      </a:r>
                    </a:p>
                    <a:p>
                      <a:pPr marL="345438" lvl="1" indent="-172719" algn="just">
                        <a:lnSpc>
                          <a:spcPts val="2239"/>
                        </a:lnSpc>
                        <a:buFont typeface="Arial"/>
                        <a:buChar char="•"/>
                      </a:pPr>
                      <a:r>
                        <a:rPr lang="en-US" sz="15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Validate the framework with different real-world datasets.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626432"/>
              </p:ext>
            </p:extLst>
          </p:nvPr>
        </p:nvGraphicFramePr>
        <p:xfrm>
          <a:off x="381000" y="1438488"/>
          <a:ext cx="17449801" cy="8571143"/>
        </p:xfrm>
        <a:graphic>
          <a:graphicData uri="http://schemas.openxmlformats.org/drawingml/2006/table">
            <a:tbl>
              <a:tblPr/>
              <a:tblGrid>
                <a:gridCol w="276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4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9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0293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2" tooltip="https://link.springer.com/article/10.1186/s40537-020-0285-1?utm_source=chatgpt.com"/>
                        </a:rPr>
                        <a:t>Paper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H. Y. Teh, A. W. Kempa-Liehr, K. I. K. Wang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796" lvl="1" indent="-215898" algn="just">
                        <a:lnSpc>
                          <a:spcPts val="27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Develop generalized sensor-quality methods. </a:t>
                      </a:r>
                      <a:endParaRPr lang="en-US" sz="1100"/>
                    </a:p>
                    <a:p>
                      <a:pPr marL="431796" lvl="1" indent="-215898" algn="just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Improve real-time error detection and correction. </a:t>
                      </a:r>
                    </a:p>
                    <a:p>
                      <a:pPr marL="431796" lvl="1" indent="-215898" algn="just">
                        <a:lnSpc>
                          <a:spcPts val="2799"/>
                        </a:lnSpc>
                        <a:buFont typeface="Arial"/>
                        <a:buChar char="•"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Integrate quality checking with big-data platforms such as Spark and Kafka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79"/>
                        </a:lnSpc>
                        <a:defRPr/>
                      </a:pPr>
                      <a:r>
                        <a:rPr lang="en-US" sz="16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1.Sensor data can contain missing, noisy and corrupted values. </a:t>
                      </a:r>
                      <a:endParaRPr lang="en-US" sz="1100"/>
                    </a:p>
                    <a:p>
                      <a:pPr algn="just">
                        <a:lnSpc>
                          <a:spcPts val="2379"/>
                        </a:lnSpc>
                      </a:pPr>
                      <a:r>
                        <a:rPr lang="en-US" sz="16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2. Different sensors require different quality techniques. </a:t>
                      </a:r>
                    </a:p>
                    <a:p>
                      <a:pPr algn="just">
                        <a:lnSpc>
                          <a:spcPts val="2379"/>
                        </a:lnSpc>
                      </a:pPr>
                      <a:r>
                        <a:rPr lang="en-US" sz="16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3. Many approaches are difficult to apply across heterogeneous systems.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16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3" tooltip="https://www.sciencedirect.com/science/article/abs/pii/S1084804516301564?utm_source=chatgpt.com"/>
                        </a:rPr>
                        <a:t>Paper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Aimad Karkouch, Hajar Mousannif, Hassan Al Moatassime, Thomas Noël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6" lvl="1" indent="-205103" algn="just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Develop IoT-specific automated data-cleaning methods. </a:t>
                      </a:r>
                      <a:endParaRPr lang="en-US" sz="1100"/>
                    </a:p>
                    <a:p>
                      <a:pPr marL="410206" lvl="1" indent="-205103" algn="just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Improve real-time quality monitoring. </a:t>
                      </a:r>
                    </a:p>
                    <a:p>
                      <a:pPr marL="410206" lvl="1" indent="-205103" algn="just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Develop scalable quality solutions for large IoT deployments.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1. IoT data is highly heterogeneous. </a:t>
                      </a:r>
                      <a:endParaRPr lang="en-US" sz="1100"/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2. Sensor data can contain outliers and inconsistencies. </a:t>
                      </a:r>
                    </a:p>
                    <a:p>
                      <a:pPr algn="just">
                        <a:lnSpc>
                          <a:spcPts val="2519"/>
                        </a:lnSpc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3. Existing cleaning techniques may not work equally well for all IoT applications.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3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u="sng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  <a:hlinkClick r:id="rId4" tooltip="https://www.frontiersin.org/journals/big-data/articles/10.3389/fdata.2022.850611/full?utm_source=chatgpt.com"/>
                        </a:rPr>
                        <a:t>Paper Link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Lisa Ehrlinger, Wolfram Wöß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0206" lvl="1" indent="-205103" algn="just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Improve automated data-quality monitoring. </a:t>
                      </a:r>
                      <a:endParaRPr lang="en-US" sz="1100"/>
                    </a:p>
                    <a:p>
                      <a:pPr marL="410206" lvl="1" indent="-205103" algn="just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Develop standardized quality metrics. </a:t>
                      </a:r>
                    </a:p>
                    <a:p>
                      <a:pPr marL="410206" lvl="1" indent="-205103" algn="just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Integrate profiling and monitoring directly into data-engineering pipelines.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79"/>
                        </a:lnSpc>
                        <a:defRPr/>
                      </a:pPr>
                      <a:r>
                        <a:rPr lang="en-US" sz="16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1. Only a limited number of tools provide complete profiling, measurement and monitoring capabilities. </a:t>
                      </a:r>
                      <a:endParaRPr lang="en-US" sz="1100" dirty="0"/>
                    </a:p>
                    <a:p>
                      <a:pPr algn="just">
                        <a:lnSpc>
                          <a:spcPts val="2379"/>
                        </a:lnSpc>
                      </a:pPr>
                      <a:r>
                        <a:rPr lang="en-US" sz="16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2. Data-quality metrics are not consistently implemented across tools.</a:t>
                      </a:r>
                    </a:p>
                    <a:p>
                      <a:pPr algn="just">
                        <a:lnSpc>
                          <a:spcPts val="2379"/>
                        </a:lnSpc>
                      </a:pPr>
                      <a:r>
                        <a:rPr lang="en-US" sz="16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 3. Tool capabilities vary between commercial and open-source solutions.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-76200" y="-71059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6513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14263" y="-37721"/>
            <a:ext cx="3973737" cy="10324721"/>
            <a:chOff x="0" y="0"/>
            <a:chExt cx="2376325" cy="34883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6325" cy="3488352"/>
            </a:xfrm>
            <a:custGeom>
              <a:avLst/>
              <a:gdLst/>
              <a:ahLst/>
              <a:cxnLst/>
              <a:rect l="l" t="t" r="r" b="b"/>
              <a:pathLst>
                <a:path w="2376325" h="3488352">
                  <a:moveTo>
                    <a:pt x="0" y="0"/>
                  </a:moveTo>
                  <a:lnTo>
                    <a:pt x="2376325" y="0"/>
                  </a:lnTo>
                  <a:lnTo>
                    <a:pt x="2376325" y="3488352"/>
                  </a:lnTo>
                  <a:lnTo>
                    <a:pt x="0" y="348835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76325" cy="3526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-37721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" y="1531251"/>
            <a:ext cx="14173200" cy="8336649"/>
          </a:xfrm>
          <a:custGeom>
            <a:avLst/>
            <a:gdLst/>
            <a:ahLst/>
            <a:cxnLst/>
            <a:rect l="l" t="t" r="r" b="b"/>
            <a:pathLst>
              <a:path w="13613701" h="8291078">
                <a:moveTo>
                  <a:pt x="0" y="0"/>
                </a:moveTo>
                <a:lnTo>
                  <a:pt x="13613700" y="0"/>
                </a:lnTo>
                <a:lnTo>
                  <a:pt x="13613700" y="8291079"/>
                </a:lnTo>
                <a:lnTo>
                  <a:pt x="0" y="8291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12" t="-455" r="-128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789346" y="3810727"/>
            <a:ext cx="4840743" cy="215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 b="1">
                <a:solidFill>
                  <a:srgbClr val="DC882D"/>
                </a:solidFill>
                <a:latin typeface="Roca Two Bold"/>
                <a:ea typeface="Roca Two Bold"/>
                <a:cs typeface="Roca Two Bold"/>
                <a:sym typeface="Roca Two Bold"/>
              </a:rPr>
              <a:t>System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9808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6172200" y="254350"/>
            <a:ext cx="6781800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  <a:spcBef>
                <a:spcPct val="0"/>
              </a:spcBef>
            </a:pPr>
            <a:r>
              <a:rPr lang="en-US" sz="7299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600" y="2095500"/>
            <a:ext cx="17068800" cy="7078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Data Sources : Production records, machine sensors, inventory &amp; maintenance logs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Kafka : Real-time data ingestion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Spark / </a:t>
            </a:r>
            <a:r>
              <a:rPr lang="en-US" sz="33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PySpark</a:t>
            </a: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: Data processing &amp; transformation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Great Expectations : Data quality validation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MySQL / Parquet : Cleaned &amp; processed data storage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Scikit-learn : Anomaly detection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</a:t>
            </a:r>
            <a:r>
              <a:rPr lang="en-US" sz="33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FastAPI</a:t>
            </a: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: Backend API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• Dashboard / Grafana : Data visualization &amp; monitoring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endParaRPr lang="en-US" sz="3300" b="1" dirty="0">
              <a:solidFill>
                <a:srgbClr val="FFFFFF"/>
              </a:solidFill>
              <a:latin typeface="Roca Two Bold"/>
              <a:ea typeface="Roca Two Bold"/>
              <a:cs typeface="Roca Two Bold"/>
              <a:sym typeface="Roca Two Bold"/>
            </a:endParaR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Overall Flow: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Data Sources → Kafka → Spark / </a:t>
            </a:r>
            <a:r>
              <a:rPr lang="en-US" sz="33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PySpark</a:t>
            </a: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→ Data Quality → Storage &amp; Anomaly Detection → </a:t>
            </a:r>
            <a:r>
              <a:rPr lang="en-US" sz="33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FastAPI</a:t>
            </a:r>
            <a:r>
              <a:rPr lang="en-US" sz="33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→ Dashboard / Grafana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228777" y="1362052"/>
          <a:ext cx="12699578" cy="5915026"/>
        </p:xfrm>
        <a:graphic>
          <a:graphicData uri="http://schemas.openxmlformats.org/drawingml/2006/table">
            <a:tbl>
              <a:tblPr/>
              <a:tblGrid>
                <a:gridCol w="6349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7186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Existing Methodology</a:t>
                      </a:r>
                      <a:endParaRPr lang="en-US" sz="1100"/>
                    </a:p>
                    <a:p>
                      <a:pPr algn="ctr">
                        <a:lnSpc>
                          <a:spcPts val="363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Proposed DataForge Methodology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68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General data collection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Focused on one manufacturing organization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68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Manual data ingestion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Python-based automated ingestion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68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Batch processing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Batch + real-time data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568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Basic data cleaning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Automated data cleaning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1568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Limited data 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Automated data quality checks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228777" y="7277077"/>
          <a:ext cx="12699578" cy="2752725"/>
        </p:xfrm>
        <a:graphic>
          <a:graphicData uri="http://schemas.openxmlformats.org/drawingml/2006/table">
            <a:tbl>
              <a:tblPr/>
              <a:tblGrid>
                <a:gridCol w="6349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9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7575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Manual duplicate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Automatic duplicate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No dedicated streaming 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Apache Kafka for data streaming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575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Data stored after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Only validated data stored in MySQL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073027" y="58888"/>
            <a:ext cx="14141946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219"/>
              </a:lnSpc>
            </a:pPr>
            <a:r>
              <a:rPr lang="en-US" sz="7299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Methodology</a:t>
            </a:r>
          </a:p>
        </p:txBody>
      </p:sp>
      <p:sp>
        <p:nvSpPr>
          <p:cNvPr id="5" name="Freeform 5"/>
          <p:cNvSpPr/>
          <p:nvPr/>
        </p:nvSpPr>
        <p:spPr>
          <a:xfrm>
            <a:off x="38245" y="-71573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2992" y="141605"/>
            <a:ext cx="6926808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Technology stack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440808" y="1310941"/>
          <a:ext cx="15573109" cy="8976062"/>
        </p:xfrm>
        <a:graphic>
          <a:graphicData uri="http://schemas.openxmlformats.org/drawingml/2006/table">
            <a:tbl>
              <a:tblPr/>
              <a:tblGrid>
                <a:gridCol w="363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3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5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712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Category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Tools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Purpose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Programming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Python, PySpark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Pipeline development and distributed data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Data Ingestion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Apache Kafka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Real-time manufacturing data ingestion and event streaming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Stream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Spark Structured Streaming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Real-time processing and transformation of manufacturing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Data Quality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Great Expectations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Data validation, profiling, and quality checks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Data Lake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MinIO (S3-Compatible)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Scalable storage for raw and processed manufacturing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Data Storage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Apache Parquet, MySQL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Efficient analytical storage and structured data persistence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Machine Learning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Scikit-learn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Anomaly detection in manufacturing data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API Layer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FastAPI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Backend APIs for data and anomaly detection services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Monitoring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Grafana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Pipeline, system, and data quality monitoring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37535">
                <a:tc>
                  <a:txBody>
                    <a:bodyPr/>
                    <a:lstStyle/>
                    <a:p>
                      <a:pPr algn="l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Roca Two Bold"/>
                          <a:ea typeface="Roca Two Bold"/>
                          <a:cs typeface="Roca Two Bold"/>
                          <a:sym typeface="Roca Two Bold"/>
                        </a:rPr>
                        <a:t>DevOps &amp; Version Control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Docker, Git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Roca Two"/>
                          <a:ea typeface="Roca Two"/>
                          <a:cs typeface="Roca Two"/>
                          <a:sym typeface="Roca Two"/>
                        </a:rPr>
                        <a:t>Containerization, deployment, and source-code management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0" y="-151709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7600" y="454358"/>
            <a:ext cx="12833769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Use of Modern Tools &amp; Technologies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-151709"/>
            <a:ext cx="2881617" cy="1568972"/>
          </a:xfrm>
          <a:custGeom>
            <a:avLst/>
            <a:gdLst/>
            <a:ahLst/>
            <a:cxnLst/>
            <a:rect l="l" t="t" r="r" b="b"/>
            <a:pathLst>
              <a:path w="2881617" h="1568972">
                <a:moveTo>
                  <a:pt x="0" y="0"/>
                </a:moveTo>
                <a:lnTo>
                  <a:pt x="2881617" y="0"/>
                </a:lnTo>
                <a:lnTo>
                  <a:pt x="2881617" y="1568972"/>
                </a:lnTo>
                <a:lnTo>
                  <a:pt x="0" y="156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1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3400" y="2095500"/>
            <a:ext cx="16840200" cy="754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Real-time Processing: Uses Kafka and Spark Structured Streaming for continuous and low-latency manufacturing data processing.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Automated Data Quality: Great Expectations enables systematic validation, profiling, and quality checks on manufacturing data.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Scalable Data Management: </a:t>
            </a:r>
            <a:r>
              <a:rPr lang="en-US" sz="30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MinIO</a:t>
            </a: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, Parquet, and MySQL support efficient storage of raw, cleaned, and processed data.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Machine Learning Integration: Scikit-learn is used for detecting anomalies in manufacturing data.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API-Based Architecture: </a:t>
            </a:r>
            <a:r>
              <a:rPr lang="en-US" sz="30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FastAPI</a:t>
            </a: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enables communication between backend processing, analytics, and the dashboard.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Containerized Development: Docker supports consistent deployment and environment management.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Monitoring &amp; Visualization: Grafana provides monitoring of data pipelines, data quality, and system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08320" y="141605"/>
            <a:ext cx="972083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Production vs Laptop Demo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829" b="-2825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52829" y="1621767"/>
            <a:ext cx="5310982" cy="720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REAL DEPLOYMENT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700" b="1" dirty="0">
              <a:solidFill>
                <a:srgbClr val="FFFFFF"/>
              </a:solidFill>
              <a:latin typeface="Roca Two Bold"/>
              <a:ea typeface="Roca Two Bold"/>
              <a:cs typeface="Roca Two Bold"/>
              <a:sym typeface="Roca Two Bold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Manufacturing Sources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Kafka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</a:t>
            </a:r>
            <a:r>
              <a:rPr lang="en-US" sz="37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PySpark</a:t>
            </a:r>
            <a:endParaRPr lang="en-US" sz="3700" b="1" dirty="0">
              <a:solidFill>
                <a:srgbClr val="FFFFFF"/>
              </a:solidFill>
              <a:latin typeface="Roca Two Bold"/>
              <a:ea typeface="Roca Two Bold"/>
              <a:cs typeface="Roca Two Bold"/>
              <a:sym typeface="Roca Two Bold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Data Quality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MySQL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91800" y="1476355"/>
            <a:ext cx="4221758" cy="866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LAPTOP DEMO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endParaRPr lang="en-US" sz="3600" b="1" dirty="0">
              <a:solidFill>
                <a:srgbClr val="FFFFFF"/>
              </a:solidFill>
              <a:latin typeface="Roca Two Bold"/>
              <a:ea typeface="Roca Two Bold"/>
              <a:cs typeface="Roca Two Bold"/>
              <a:sym typeface="Roca Two Bold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Generated Dataset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FileBus</a:t>
            </a:r>
            <a:endParaRPr lang="en-US" sz="3600" b="1" dirty="0">
              <a:solidFill>
                <a:srgbClr val="FFFFFF"/>
              </a:solidFill>
              <a:latin typeface="Roca Two Bold"/>
              <a:ea typeface="Roca Two Bold"/>
              <a:cs typeface="Roca Two Bold"/>
              <a:sym typeface="Roca Two Bold"/>
            </a:endParaRP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Pandas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Data Quality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SQLite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↓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0F7D4-AEC8-C467-FCAB-1F7086E60B3E}"/>
              </a:ext>
            </a:extLst>
          </p:cNvPr>
          <p:cNvSpPr txBox="1"/>
          <p:nvPr/>
        </p:nvSpPr>
        <p:spPr>
          <a:xfrm>
            <a:off x="1039660" y="56742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2003" y="1080370"/>
            <a:ext cx="17163994" cy="835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Code Quality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Modular Design: ETL, data quality, storage, and dashboard components are organized into separate modules for easier maintenance.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Readable &amp; Structured Code: Clear naming, organized functions, and consistent coding practices are followed.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Error Handling: Data validation and exception handling help manage missing, invalid, and inconsistent manufacturing data.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Data Quality Checks: Automated validation rules are used to identify and separate invalid records from clean data.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Version Control: Git is used for tracking code changes and managing project development.</a:t>
            </a:r>
          </a:p>
          <a:p>
            <a:pPr algn="l">
              <a:lnSpc>
                <a:spcPts val="3360"/>
              </a:lnSpc>
            </a:pPr>
            <a:endParaRPr lang="en-US" sz="2400" b="1" dirty="0">
              <a:solidFill>
                <a:srgbClr val="FFFFFF"/>
              </a:solidFill>
              <a:latin typeface="Roca Two Bold"/>
              <a:ea typeface="Roca Two Bold"/>
              <a:cs typeface="Roca Two Bold"/>
              <a:sym typeface="Roca Two Bold"/>
            </a:endParaRPr>
          </a:p>
          <a:p>
            <a:pPr algn="l">
              <a:lnSpc>
                <a:spcPts val="3360"/>
              </a:lnSpc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Functionality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Data Generation: Simulated manufacturing data is generated to represent production, sensor, inventory, maintenance, and quality records.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Local Data Ingestion: </a:t>
            </a:r>
            <a:r>
              <a:rPr lang="en-US" sz="24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FileBus</a:t>
            </a: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 is used to simulate the streaming/topic layer for the laptop demonstration.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ETL Processing: Pandas performs data cleaning, transformation, validation, and preparation.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Data Quality Validation: Quality checks identify missing, duplicate, inconsistent, and invalid records.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Data Quarantine: Invalid records are separated while valid records are retained for further processing.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Data Storage: SQLite stores the cleaned and validated manufacturing data in the local demo.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Dashboard: Displays quality improvement, valid and quarantined records, source-wise results, and raw vs. cleaned data.</a:t>
            </a:r>
          </a:p>
          <a:p>
            <a:pPr marL="518175" lvl="1" indent="-259087" algn="l">
              <a:lnSpc>
                <a:spcPts val="3360"/>
              </a:lnSpc>
              <a:buFont typeface="Arial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Production Scalability: The architecture can be extended to Kafka, </a:t>
            </a:r>
            <a:r>
              <a:rPr lang="en-US" sz="2400" b="1" dirty="0" err="1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PySpark</a:t>
            </a:r>
            <a:r>
              <a:rPr lang="en-US" sz="2400" b="1" dirty="0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, and MySQL for full deployment.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024480B-3B86-7093-09E4-464EF101E96D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829" b="-28253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E16835B-6E62-F334-88CE-C43E8817D6A2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829" b="-28253"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71A4BC-5FC7-C007-54A3-82771F0C4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62" y="1238250"/>
            <a:ext cx="15763875" cy="904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0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5EDB7-DBD0-7767-84EA-50B0BE08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BF225D1-EC6E-430D-C5C0-935AE30A3ADF}"/>
              </a:ext>
            </a:extLst>
          </p:cNvPr>
          <p:cNvSpPr txBox="1"/>
          <p:nvPr/>
        </p:nvSpPr>
        <p:spPr>
          <a:xfrm>
            <a:off x="562003" y="800100"/>
            <a:ext cx="17163994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Roca Two" panose="020B0604020202020204" charset="0"/>
                <a:ea typeface="Calibri" pitchFamily="34" charset="-122"/>
                <a:cs typeface="Calibri" pitchFamily="34" charset="-120"/>
              </a:rPr>
              <a:t>Comparison: Existing Approach vs </a:t>
            </a:r>
            <a:r>
              <a:rPr lang="en-US" sz="3200" b="1" dirty="0" err="1">
                <a:solidFill>
                  <a:srgbClr val="FFFFFF"/>
                </a:solidFill>
                <a:latin typeface="Roca Two" panose="020B0604020202020204" charset="0"/>
                <a:ea typeface="Calibri" pitchFamily="34" charset="-122"/>
                <a:cs typeface="Calibri" pitchFamily="34" charset="-120"/>
              </a:rPr>
              <a:t>DataForge</a:t>
            </a:r>
            <a:endParaRPr lang="en-US" sz="3200" dirty="0">
              <a:latin typeface="Roca Two" panose="020B0604020202020204" charset="0"/>
            </a:endParaR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Roca Two Bold"/>
              <a:ea typeface="Roca Two Bold"/>
              <a:cs typeface="Roca Two Bold"/>
              <a:sym typeface="Roca Two Bold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FFB5E1-1EBA-9EFB-9F8B-6D88E2EC7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392942"/>
              </p:ext>
            </p:extLst>
          </p:nvPr>
        </p:nvGraphicFramePr>
        <p:xfrm>
          <a:off x="1295400" y="2476500"/>
          <a:ext cx="16154400" cy="5913120"/>
        </p:xfrm>
        <a:graphic>
          <a:graphicData uri="http://schemas.openxmlformats.org/drawingml/2006/table">
            <a:tbl>
              <a:tblPr/>
              <a:tblGrid>
                <a:gridCol w="2952882">
                  <a:extLst>
                    <a:ext uri="{9D8B030D-6E8A-4147-A177-3AD203B41FA5}">
                      <a16:colId xmlns:a16="http://schemas.microsoft.com/office/drawing/2014/main" val="828260347"/>
                    </a:ext>
                  </a:extLst>
                </a:gridCol>
                <a:gridCol w="2952882">
                  <a:extLst>
                    <a:ext uri="{9D8B030D-6E8A-4147-A177-3AD203B41FA5}">
                      <a16:colId xmlns:a16="http://schemas.microsoft.com/office/drawing/2014/main" val="3602171664"/>
                    </a:ext>
                  </a:extLst>
                </a:gridCol>
                <a:gridCol w="3085836">
                  <a:extLst>
                    <a:ext uri="{9D8B030D-6E8A-4147-A177-3AD203B41FA5}">
                      <a16:colId xmlns:a16="http://schemas.microsoft.com/office/drawing/2014/main" val="37558625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428045263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504184529"/>
                    </a:ext>
                  </a:extLst>
                </a:gridCol>
              </a:tblGrid>
              <a:tr h="48944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Performance Metric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Existing Approach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DataForge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Comparison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Performance Metric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045187"/>
                  </a:ext>
                </a:extLst>
              </a:tr>
              <a:tr h="48944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Throughput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77.7 K records/min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60.6 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K records/min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Existing approach is faster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Throughput</a:t>
                      </a:r>
                      <a:endParaRPr lang="en-IN" sz="2800" dirty="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449799"/>
                  </a:ext>
                </a:extLst>
              </a:tr>
              <a:tr h="48944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Time Efficiency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0.77 sec/1K records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1.50 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sec/1K records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Existing approach is faster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Time Efficiency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609121"/>
                  </a:ext>
                </a:extLst>
              </a:tr>
              <a:tr h="55969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Invalid Records Caught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4.3%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12.8%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DataForge detects more invalid records</a:t>
                      </a:r>
                      <a:endParaRPr lang="en-IN" sz="280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IN" sz="2800" b="1" dirty="0">
                          <a:solidFill>
                            <a:schemeClr val="bg2"/>
                          </a:solidFill>
                          <a:latin typeface="Roca Two" panose="020B0604020202020204" charset="0"/>
                        </a:rPr>
                        <a:t>Invalid Records Caught</a:t>
                      </a:r>
                      <a:endParaRPr lang="en-IN" sz="2800" dirty="0">
                        <a:solidFill>
                          <a:schemeClr val="bg2"/>
                        </a:solidFill>
                        <a:latin typeface="Roca Two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641913"/>
                  </a:ext>
                </a:extLst>
              </a:tr>
            </a:tbl>
          </a:graphicData>
        </a:graphic>
      </p:graphicFrame>
      <p:sp>
        <p:nvSpPr>
          <p:cNvPr id="5" name="Freeform 3">
            <a:extLst>
              <a:ext uri="{FF2B5EF4-FFF2-40B4-BE49-F238E27FC236}">
                <a16:creationId xmlns:a16="http://schemas.microsoft.com/office/drawing/2014/main" id="{7B62309E-9F66-FE96-68BB-02E971190F2E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829" b="-28253"/>
            </a:stretch>
          </a:blipFill>
        </p:spPr>
      </p:sp>
    </p:spTree>
    <p:extLst>
      <p:ext uri="{BB962C8B-B14F-4D97-AF65-F5344CB8AC3E}">
        <p14:creationId xmlns:p14="http://schemas.microsoft.com/office/powerpoint/2010/main" val="1739760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1" y="1181100"/>
            <a:ext cx="18135600" cy="8429613"/>
          </a:xfrm>
          <a:custGeom>
            <a:avLst/>
            <a:gdLst/>
            <a:ahLst/>
            <a:cxnLst/>
            <a:rect l="l" t="t" r="r" b="b"/>
            <a:pathLst>
              <a:path w="18036061" h="8429613">
                <a:moveTo>
                  <a:pt x="0" y="0"/>
                </a:moveTo>
                <a:lnTo>
                  <a:pt x="18036060" y="0"/>
                </a:lnTo>
                <a:lnTo>
                  <a:pt x="18036060" y="8429613"/>
                </a:lnTo>
                <a:lnTo>
                  <a:pt x="0" y="8429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2" r="-2539"/>
            </a:stretch>
          </a:blipFill>
        </p:spPr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C66CE53-A3E8-0CE8-9CB8-97308F2AE9F7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829" b="-28253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52D9A9-45AB-B287-1F2F-E45A02F8DB3E}"/>
              </a:ext>
            </a:extLst>
          </p:cNvPr>
          <p:cNvSpPr txBox="1"/>
          <p:nvPr/>
        </p:nvSpPr>
        <p:spPr>
          <a:xfrm>
            <a:off x="7734301" y="291566"/>
            <a:ext cx="2971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  <a:latin typeface="Roca Two" panose="020B0604020202020204" charset="0"/>
              </a:rPr>
              <a:t>Results</a:t>
            </a:r>
            <a:endParaRPr lang="en-IN" sz="4400" dirty="0">
              <a:solidFill>
                <a:schemeClr val="bg2"/>
              </a:solidFill>
              <a:latin typeface="Roca Two" panose="020B0604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71700"/>
            <a:ext cx="18288000" cy="6630753"/>
          </a:xfrm>
          <a:custGeom>
            <a:avLst/>
            <a:gdLst/>
            <a:ahLst/>
            <a:cxnLst/>
            <a:rect l="l" t="t" r="r" b="b"/>
            <a:pathLst>
              <a:path w="18288000" h="6630753">
                <a:moveTo>
                  <a:pt x="0" y="0"/>
                </a:moveTo>
                <a:lnTo>
                  <a:pt x="18288000" y="0"/>
                </a:lnTo>
                <a:lnTo>
                  <a:pt x="18288000" y="6630753"/>
                </a:lnTo>
                <a:lnTo>
                  <a:pt x="0" y="6630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92" r="-2881" b="-1105"/>
            </a:stretch>
          </a:blipFill>
        </p:spPr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84A9DE6-27B9-1FEF-D101-238513B90A8B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829" b="-28253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0691" y="1409700"/>
            <a:ext cx="16066617" cy="8464954"/>
          </a:xfrm>
          <a:custGeom>
            <a:avLst/>
            <a:gdLst/>
            <a:ahLst/>
            <a:cxnLst/>
            <a:rect l="l" t="t" r="r" b="b"/>
            <a:pathLst>
              <a:path w="16066617" h="7931554">
                <a:moveTo>
                  <a:pt x="0" y="0"/>
                </a:moveTo>
                <a:lnTo>
                  <a:pt x="16066617" y="0"/>
                </a:lnTo>
                <a:lnTo>
                  <a:pt x="16066617" y="7931554"/>
                </a:lnTo>
                <a:lnTo>
                  <a:pt x="0" y="7931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8" t="-482" b="-48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460941A-BFEE-27CC-0D7E-C463A3290DE3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829" b="-28253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3BA906-C29A-AB3F-CB01-6124462B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CC48516-E60B-B14F-6B9E-143A82558CB4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829" b="-28253"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676355-F24A-E288-144C-6999E7FD8B64}"/>
              </a:ext>
            </a:extLst>
          </p:cNvPr>
          <p:cNvSpPr txBox="1"/>
          <p:nvPr/>
        </p:nvSpPr>
        <p:spPr>
          <a:xfrm>
            <a:off x="1143000" y="1943100"/>
            <a:ext cx="15621000" cy="650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 err="1">
                <a:solidFill>
                  <a:schemeClr val="bg2"/>
                </a:solidFill>
                <a:latin typeface="Roca Two" panose="020B0604020202020204" charset="0"/>
              </a:rPr>
              <a:t>DataForge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automates the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manufacturing data-processing and ETL process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and performs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automated data-quality checks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for missing, duplicate, inconsistent, and invalid records. It achieves a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throughput of 60.6 K records/min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, compared with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77.7 K records/min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in the existing approach, and takes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1.50 sec/1K records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compared with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0.77 sec/1K records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. </a:t>
            </a:r>
            <a:r>
              <a:rPr lang="en-IN" sz="2800" dirty="0" err="1">
                <a:solidFill>
                  <a:schemeClr val="bg2"/>
                </a:solidFill>
                <a:latin typeface="Roca Two" panose="020B0604020202020204" charset="0"/>
              </a:rPr>
              <a:t>DataForge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detects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12.8% invalid records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, compared with only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4.3%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in the existing approach, and the demonstrated implementation improved data quality from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91.3% to 100%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. Although </a:t>
            </a:r>
            <a:r>
              <a:rPr lang="en-IN" sz="2800" dirty="0" err="1">
                <a:solidFill>
                  <a:schemeClr val="bg2"/>
                </a:solidFill>
                <a:latin typeface="Roca Two" panose="020B0604020202020204" charset="0"/>
              </a:rPr>
              <a:t>DataForge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 introduces some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processing overhead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, it provides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better error detection and data reliability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. Overall, the system produces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clean, validated, and analytics-ready manufacturing data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, focusing more on </a:t>
            </a:r>
            <a:r>
              <a:rPr lang="en-IN" sz="2800" b="1" dirty="0">
                <a:solidFill>
                  <a:schemeClr val="bg2"/>
                </a:solidFill>
                <a:latin typeface="Roca Two" panose="020B0604020202020204" charset="0"/>
              </a:rPr>
              <a:t>data quality and reliability rather than only processing speed</a:t>
            </a:r>
            <a:r>
              <a:rPr lang="en-IN" sz="2800" dirty="0">
                <a:solidFill>
                  <a:schemeClr val="bg2"/>
                </a:solidFill>
                <a:latin typeface="Roca Two" panose="020B060402020202020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1B974-5D8D-6C56-6EA6-6333D0400425}"/>
              </a:ext>
            </a:extLst>
          </p:cNvPr>
          <p:cNvSpPr txBox="1"/>
          <p:nvPr/>
        </p:nvSpPr>
        <p:spPr>
          <a:xfrm>
            <a:off x="6934200" y="723900"/>
            <a:ext cx="510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2"/>
                </a:solidFill>
                <a:latin typeface="Roca Two" panose="020B0604020202020204" charset="0"/>
              </a:rPr>
              <a:t>Conclusion</a:t>
            </a:r>
            <a:endParaRPr lang="en-IN" sz="4800" dirty="0">
              <a:solidFill>
                <a:schemeClr val="bg2"/>
              </a:solidFill>
              <a:latin typeface="Roca Tw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619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B7832-2F6F-D902-DDDC-BC06F0B4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B2A0051-9B63-F56E-7C2F-96C00CD114BF}"/>
              </a:ext>
            </a:extLst>
          </p:cNvPr>
          <p:cNvSpPr txBox="1"/>
          <p:nvPr/>
        </p:nvSpPr>
        <p:spPr>
          <a:xfrm>
            <a:off x="914400" y="2247900"/>
            <a:ext cx="16459200" cy="6601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[1]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</a:t>
            </a:r>
            <a:r>
              <a:rPr lang="en-IN" sz="2400" dirty="0" err="1">
                <a:solidFill>
                  <a:schemeClr val="bg2"/>
                </a:solidFill>
                <a:latin typeface="Roca Two" panose="020B0604020202020204" charset="0"/>
              </a:rPr>
              <a:t>Hramov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, Alexander E., and Alexander N. </a:t>
            </a:r>
            <a:r>
              <a:rPr lang="en-IN" sz="2400" dirty="0" err="1">
                <a:solidFill>
                  <a:schemeClr val="bg2"/>
                </a:solidFill>
                <a:latin typeface="Roca Two" panose="020B0604020202020204" charset="0"/>
              </a:rPr>
              <a:t>Pisarchik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. "Big data management and quality evaluation for the implementation of AI technologies in smart manufacturing." Applied Sciences 15.22 (2025): 11905.. 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[2]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Abdelrahman, Abdelrahman A., et al. "</a:t>
            </a:r>
            <a:r>
              <a:rPr lang="en-IN" sz="2400" dirty="0" err="1">
                <a:solidFill>
                  <a:schemeClr val="bg2"/>
                </a:solidFill>
                <a:latin typeface="Roca Two" panose="020B0604020202020204" charset="0"/>
              </a:rPr>
              <a:t>DataForge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: An AI-Driven Data Warehouse Schema Generator." 2025 Twelfth International Conference on Intelligent Computing and Information Systems (ICICIS). IEEE, 2025.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[3]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Mahmud, Danish, and Md </a:t>
            </a:r>
            <a:r>
              <a:rPr lang="en-IN" sz="2400" dirty="0" err="1">
                <a:solidFill>
                  <a:schemeClr val="bg2"/>
                </a:solidFill>
                <a:latin typeface="Roca Two" panose="020B0604020202020204" charset="0"/>
              </a:rPr>
              <a:t>Zafor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Ikbal. "The role of </a:t>
            </a:r>
            <a:r>
              <a:rPr lang="en-IN" sz="2400" dirty="0" err="1">
                <a:solidFill>
                  <a:schemeClr val="bg2"/>
                </a:solidFill>
                <a:latin typeface="Roca Two" panose="020B0604020202020204" charset="0"/>
              </a:rPr>
              <a:t>etl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(extract-transform-load) pipelines in scalable business intelligence: A comparative study of data integration tools." ASRC Procedia: Global Perspectives in Science and Scholarship 2.1 (2022): 89-121.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[4]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</a:t>
            </a:r>
            <a:r>
              <a:rPr lang="en-IN" sz="2400" dirty="0" err="1">
                <a:solidFill>
                  <a:schemeClr val="bg2"/>
                </a:solidFill>
                <a:latin typeface="Roca Two" panose="020B0604020202020204" charset="0"/>
              </a:rPr>
              <a:t>Machireddy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, Jeshwanth Reddy. "Data quality management and performance optimization for enterprise-scale </a:t>
            </a:r>
            <a:r>
              <a:rPr lang="en-IN" sz="2400" dirty="0" err="1">
                <a:solidFill>
                  <a:schemeClr val="bg2"/>
                </a:solidFill>
                <a:latin typeface="Roca Two" panose="020B0604020202020204" charset="0"/>
              </a:rPr>
              <a:t>etl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pipelines in modern analytical ecosystems." Journal of Data Science, Predictive Analytics, and Big Data Applications 8.7 (2023): 1-26.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bg2"/>
                </a:solidFill>
                <a:latin typeface="Roca Two" panose="020B0604020202020204" charset="0"/>
              </a:rPr>
              <a:t>[5]</a:t>
            </a:r>
            <a:r>
              <a:rPr lang="en-IN" sz="2400" dirty="0">
                <a:solidFill>
                  <a:schemeClr val="bg2"/>
                </a:solidFill>
                <a:latin typeface="Roca Two" panose="020B0604020202020204" charset="0"/>
              </a:rPr>
              <a:t> Gaddipati, Soma Sekhar. "AI-Augmented Data Engineering: Enhancing ETL Pipelines with Intelligent Automation and Data Quality Frameworks." Journal of Electrical Systems (2021).</a:t>
            </a:r>
            <a:endParaRPr lang="en-US" sz="2400" b="1" dirty="0">
              <a:solidFill>
                <a:schemeClr val="bg2"/>
              </a:solidFill>
              <a:latin typeface="Roca Two" panose="020B0604020202020204" charset="0"/>
              <a:ea typeface="Roca Two Bold"/>
              <a:cs typeface="Roca Two Bold"/>
              <a:sym typeface="Roca Two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FD13F-83F5-F865-EF9C-10512A41726F}"/>
              </a:ext>
            </a:extLst>
          </p:cNvPr>
          <p:cNvSpPr txBox="1"/>
          <p:nvPr/>
        </p:nvSpPr>
        <p:spPr>
          <a:xfrm>
            <a:off x="6858000" y="402939"/>
            <a:ext cx="807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2"/>
                </a:solidFill>
                <a:latin typeface="Roca Two" panose="020B0604020202020204" charset="0"/>
              </a:rPr>
              <a:t>References</a:t>
            </a:r>
            <a:endParaRPr lang="en-IN" sz="6000" dirty="0">
              <a:solidFill>
                <a:schemeClr val="bg2"/>
              </a:solidFill>
              <a:latin typeface="Roca Two" panose="020B0604020202020204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F9C8FC0-87E8-1F23-CC04-680222108499}"/>
              </a:ext>
            </a:extLst>
          </p:cNvPr>
          <p:cNvSpPr/>
          <p:nvPr/>
        </p:nvSpPr>
        <p:spPr>
          <a:xfrm>
            <a:off x="0" y="-194638"/>
            <a:ext cx="2881617" cy="1223338"/>
          </a:xfrm>
          <a:custGeom>
            <a:avLst/>
            <a:gdLst/>
            <a:ahLst/>
            <a:cxnLst/>
            <a:rect l="l" t="t" r="r" b="b"/>
            <a:pathLst>
              <a:path w="2881617" h="1223338">
                <a:moveTo>
                  <a:pt x="0" y="0"/>
                </a:moveTo>
                <a:lnTo>
                  <a:pt x="2881617" y="0"/>
                </a:lnTo>
                <a:lnTo>
                  <a:pt x="2881617" y="1223338"/>
                </a:lnTo>
                <a:lnTo>
                  <a:pt x="0" y="122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829" b="-28253"/>
            </a:stretch>
          </a:blipFill>
        </p:spPr>
      </p:sp>
    </p:spTree>
    <p:extLst>
      <p:ext uri="{BB962C8B-B14F-4D97-AF65-F5344CB8AC3E}">
        <p14:creationId xmlns:p14="http://schemas.microsoft.com/office/powerpoint/2010/main" val="4234060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8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9534" y="4117391"/>
            <a:ext cx="9312480" cy="134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391"/>
              </a:lnSpc>
            </a:pPr>
            <a:r>
              <a:rPr lang="en-US" sz="9533" b="1" spc="285">
                <a:solidFill>
                  <a:srgbClr val="FFFFFF"/>
                </a:solidFill>
                <a:latin typeface="Roca Two Ultra-Bold"/>
                <a:ea typeface="Roca Two Ultra-Bold"/>
                <a:cs typeface="Roca Two Ultra-Bold"/>
                <a:sym typeface="Roca Two Ultra-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722575">
            <a:off x="-2339222" y="-276311"/>
            <a:ext cx="5526470" cy="5526470"/>
          </a:xfrm>
          <a:custGeom>
            <a:avLst/>
            <a:gdLst/>
            <a:ahLst/>
            <a:cxnLst/>
            <a:rect l="l" t="t" r="r" b="b"/>
            <a:pathLst>
              <a:path w="5526470" h="5526470">
                <a:moveTo>
                  <a:pt x="0" y="0"/>
                </a:moveTo>
                <a:lnTo>
                  <a:pt x="5526470" y="0"/>
                </a:lnTo>
                <a:lnTo>
                  <a:pt x="5526470" y="5526471"/>
                </a:lnTo>
                <a:lnTo>
                  <a:pt x="0" y="5526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801374">
            <a:off x="9918279" y="7771199"/>
            <a:ext cx="5643109" cy="5643109"/>
          </a:xfrm>
          <a:custGeom>
            <a:avLst/>
            <a:gdLst/>
            <a:ahLst/>
            <a:cxnLst/>
            <a:rect l="l" t="t" r="r" b="b"/>
            <a:pathLst>
              <a:path w="5643109" h="5643109">
                <a:moveTo>
                  <a:pt x="0" y="0"/>
                </a:moveTo>
                <a:lnTo>
                  <a:pt x="5643110" y="0"/>
                </a:lnTo>
                <a:lnTo>
                  <a:pt x="5643110" y="5643110"/>
                </a:lnTo>
                <a:lnTo>
                  <a:pt x="0" y="5643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801374">
            <a:off x="6000975" y="-4421724"/>
            <a:ext cx="6286050" cy="6286050"/>
          </a:xfrm>
          <a:custGeom>
            <a:avLst/>
            <a:gdLst/>
            <a:ahLst/>
            <a:cxnLst/>
            <a:rect l="l" t="t" r="r" b="b"/>
            <a:pathLst>
              <a:path w="6286050" h="6286050">
                <a:moveTo>
                  <a:pt x="0" y="0"/>
                </a:moveTo>
                <a:lnTo>
                  <a:pt x="6286050" y="0"/>
                </a:lnTo>
                <a:lnTo>
                  <a:pt x="6286050" y="6286050"/>
                </a:lnTo>
                <a:lnTo>
                  <a:pt x="0" y="6286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4045322">
            <a:off x="10569719" y="1267315"/>
            <a:ext cx="9415423" cy="7426415"/>
          </a:xfrm>
          <a:custGeom>
            <a:avLst/>
            <a:gdLst/>
            <a:ahLst/>
            <a:cxnLst/>
            <a:rect l="l" t="t" r="r" b="b"/>
            <a:pathLst>
              <a:path w="9415423" h="7426415">
                <a:moveTo>
                  <a:pt x="0" y="0"/>
                </a:moveTo>
                <a:lnTo>
                  <a:pt x="9415424" y="0"/>
                </a:lnTo>
                <a:lnTo>
                  <a:pt x="9415424" y="7426415"/>
                </a:lnTo>
                <a:lnTo>
                  <a:pt x="0" y="7426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067" y="19254"/>
            <a:ext cx="3187127" cy="1771144"/>
          </a:xfrm>
          <a:custGeom>
            <a:avLst/>
            <a:gdLst/>
            <a:ahLst/>
            <a:cxnLst/>
            <a:rect l="l" t="t" r="r" b="b"/>
            <a:pathLst>
              <a:path w="3187127" h="1771144">
                <a:moveTo>
                  <a:pt x="0" y="0"/>
                </a:moveTo>
                <a:lnTo>
                  <a:pt x="3187126" y="0"/>
                </a:lnTo>
                <a:lnTo>
                  <a:pt x="3187126" y="1771145"/>
                </a:lnTo>
                <a:lnTo>
                  <a:pt x="0" y="1771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375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2447</Words>
  <Application>Microsoft Office PowerPoint</Application>
  <PresentationFormat>Custom</PresentationFormat>
  <Paragraphs>314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Roca Two</vt:lpstr>
      <vt:lpstr>Arial</vt:lpstr>
      <vt:lpstr>Roca Two Bold</vt:lpstr>
      <vt:lpstr>Calibri</vt:lpstr>
      <vt:lpstr>Roca Two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FDE Project ppt</dc:title>
  <cp:lastModifiedBy>khethana ganta</cp:lastModifiedBy>
  <cp:revision>3</cp:revision>
  <dcterms:created xsi:type="dcterms:W3CDTF">2006-08-16T00:00:00Z</dcterms:created>
  <dcterms:modified xsi:type="dcterms:W3CDTF">2026-10-07T03:52:43Z</dcterms:modified>
  <dc:identifier>DAHRrbKd9zE</dc:identifier>
</cp:coreProperties>
</file>